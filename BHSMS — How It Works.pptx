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BHSMS is the health records system for three barangay health stations in Bucay. First we look at what it does for each health worker, then at how the code makes its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barangays, five roles, ten modules, one ID per person. The offline-first design matters because the stations often lose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shown are the preset demo accounts. A role gives default modules; an admin can add or remove modules for any single user, for example giving a nurse access to the medical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Frontline modules are for the daily station work. Clinical modules hold confidential records. Governance covers reports, sync and user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Filipino surnames are spelled many ways. Soundex turns “Dela Cruz” and “De la Cruz” into the same code, D426, so the system catches the second registration before it is saved. The UPI shown is an example of the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patient: 150/95 with a 38.4 degree fever, 68 kg and 160 cm. The system gives Stage 2 hypertension, so severity HIGH, and adds the fever and BMI flags. No referral, because only a crisis forces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staircase left to right. Example: 130 over 95 is Stage 2, because the diastolic 95 is in the higher band. Flags saved: PRE_HYPERTENSION, STAGE_2_HYPERTENSION, HYPERTENSIVE_CRISIS_EMERGENCY.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Fever at 38.0 or above adds FEBRILE_ILLNESS_ALERT. BMI is computed from weight and height. Flags: BMI_UNDERWEIGHT, BMI_OBESE_1, BMI_OBESE_2. Heart rate and breathing rate are left to the nurse’s or doctor’s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due date and gestational age are computed from the last menstrual period. The three high-risk flags are set automatically when the mother is enrolled. Analytics reports how many mothers complete all four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DOH Expanded Program on Immunization schedule as coded in the system. The defaulter list is computed by comparing each child’s age in weeks to each vaccine’s target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record is checked for blood pressure and for fever separately, so one visit can count in both. Febrile cases are split by keywords in the nurse’s notes: dengue or petechiae means suspected dengue, otherwise acute respiratory.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Pages are guarded by role. Services hold the clinical rules. Data is cached per type in localStorage. Supabase receives a JSON backup in the bhsms-backups bucket plus upserts of residents and profiles; if the upload fails, the data stays queued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in a snake: across the top, down, then back along the bottom. Note that the severity is computed twice: once live for the preview, once on submit for the saved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readable summary of the real functions evaluateHemodynamics and evaluateVitals. The real code also returns the flag names and the BMI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hides pages a user has no module for; the database refuses reads their role is not allowed; and the audit log records every action. canViewReportsOnly is what keeps an LGU viewer out of individual patient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core idea, then take questions. Good follow-ups: adding heart-rate and breathing-rate flags, and syncing vital signs to their own table instead of only the backup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39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0272B"/>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747441"/>
            <a:ext cx="10566400" cy="4297759"/>
          </a:xfrm>
          <a:prstGeom prst="rect">
            <a:avLst/>
          </a:prstGeom>
          <a:noFill/>
          <a:ln/>
        </p:spPr>
        <p:txBody>
          <a:bodyPr wrap="square" lIns="0" tIns="0" rIns="0" bIns="0" rtlCol="0" anchor="t"/>
          <a:lstStyle>
            <a:lvl1pPr algn="l" indent="0" marL="0">
              <a:lnSpc>
                <a:spcPct val="140000"/>
              </a:lnSpc>
              <a:buNone/>
              <a:defRPr lang="en-US" sz="1600" dirty="0">
                <a:solidFill>
                  <a:srgbClr val="10272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939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5F2EA"/>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747441"/>
            <a:ext cx="10566400" cy="4297759"/>
          </a:xfrm>
          <a:prstGeom prst="rect">
            <a:avLst/>
          </a:prstGeom>
          <a:noFill/>
          <a:ln/>
        </p:spPr>
        <p:txBody>
          <a:bodyPr wrap="square" lIns="0" tIns="0" rIns="0" bIns="0" rtlCol="0" anchor="t"/>
          <a:lstStyle>
            <a:lvl1pPr algn="l" indent="0" marL="0">
              <a:lnSpc>
                <a:spcPct val="140000"/>
              </a:lnSpc>
              <a:buNone/>
              <a:defRPr lang="en-US" sz="1600" dirty="0">
                <a:solidFill>
                  <a:srgbClr val="F5F2E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39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0272B"/>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747441"/>
            <a:ext cx="10566400" cy="4297759"/>
          </a:xfrm>
          <a:prstGeom prst="rect">
            <a:avLst/>
          </a:prstGeom>
          <a:noFill/>
          <a:ln/>
        </p:spPr>
        <p:txBody>
          <a:bodyPr wrap="square" lIns="0" tIns="0" rIns="0" bIns="0" rtlCol="0" anchor="t"/>
          <a:lstStyle>
            <a:lvl1pPr algn="l" indent="0" marL="0">
              <a:lnSpc>
                <a:spcPct val="140000"/>
              </a:lnSpc>
              <a:buNone/>
              <a:defRPr lang="en-US" sz="1600" dirty="0">
                <a:solidFill>
                  <a:srgbClr val="10272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eartbeat line">    </p:cNvPr>
          <p:cNvPicPr>
            <a:picLocks noChangeAspect="1"/>
          </p:cNvPicPr>
          <p:nvPr/>
        </p:nvPicPr>
        <p:blipFill>
          <a:blip r:embed="rId1"/>
          <a:srcRect l="0" r="0" t="0" b="0"/>
          <a:stretch/>
        </p:blipFill>
        <p:spPr>
          <a:xfrm>
            <a:off x="0" y="4445000"/>
            <a:ext cx="12192000" cy="1524000"/>
          </a:xfrm>
          <a:prstGeom prst="rect">
            <a:avLst/>
          </a:prstGeom>
        </p:spPr>
      </p:pic>
      <p:sp>
        <p:nvSpPr>
          <p:cNvPr id="3" name="Shape 0"/>
          <p:cNvSpPr/>
          <p:nvPr/>
        </p:nvSpPr>
        <p:spPr>
          <a:xfrm>
            <a:off x="9448800" y="1270000"/>
            <a:ext cx="1930400" cy="1930400"/>
          </a:xfrm>
          <a:prstGeom prst="roundRect">
            <a:avLst>
              <a:gd name="adj" fmla="val 50000"/>
            </a:avLst>
          </a:prstGeom>
          <a:solidFill>
            <a:srgbClr val="E2703A"/>
          </a:solidFill>
          <a:ln/>
        </p:spPr>
      </p:sp>
      <p:pic>
        <p:nvPicPr>
          <p:cNvPr id="4" name="Image 1" descr="Activity">    </p:cNvPr>
          <p:cNvPicPr>
            <a:picLocks noChangeAspect="1"/>
          </p:cNvPicPr>
          <p:nvPr/>
        </p:nvPicPr>
        <p:blipFill>
          <a:blip r:embed="rId2"/>
          <a:srcRect l="0" r="0" t="0" b="0"/>
          <a:stretch/>
        </p:blipFill>
        <p:spPr>
          <a:xfrm>
            <a:off x="9906000" y="1727200"/>
            <a:ext cx="1016000" cy="1016000"/>
          </a:xfrm>
          <a:prstGeom prst="rect">
            <a:avLst/>
          </a:prstGeom>
        </p:spPr>
      </p:pic>
      <p:sp>
        <p:nvSpPr>
          <p:cNvPr id="5" name="Text 1"/>
          <p:cNvSpPr/>
          <p:nvPr/>
        </p:nvSpPr>
        <p:spPr>
          <a:xfrm>
            <a:off x="812800" y="1270000"/>
            <a:ext cx="7848600"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8A50"/>
                </a:solidFill>
                <a:latin typeface="Public Sans" pitchFamily="34" charset="0"/>
                <a:ea typeface="Public Sans" pitchFamily="34" charset="-122"/>
                <a:cs typeface="Public Sans" pitchFamily="34" charset="-120"/>
              </a:rPr>
              <a:t>BARANGAY HEALTH STATUS MONITORING SYSTEM</a:t>
            </a:r>
            <a:endParaRPr lang="en-US" sz="1400" dirty="0"/>
          </a:p>
        </p:txBody>
      </p:sp>
      <p:sp>
        <p:nvSpPr>
          <p:cNvPr id="6" name="Text 2"/>
          <p:cNvSpPr/>
          <p:nvPr>
            <p:ph type="title"/>
          </p:nvPr>
        </p:nvSpPr>
        <p:spPr>
          <a:xfrm>
            <a:off x="812800" y="1587500"/>
            <a:ext cx="8502650" cy="1422400"/>
          </a:xfrm>
          <a:prstGeom prst="rect">
            <a:avLst/>
          </a:prstGeom>
          <a:noFill/>
          <a:ln/>
        </p:spPr>
        <p:txBody>
          <a:bodyPr wrap="square" lIns="0" tIns="0" rIns="0" bIns="0" rtlCol="0" anchor="t">
            <a:normAutofit/>
          </a:bodyPr>
          <a:lstStyle/>
          <a:p>
            <a:pPr algn="l" indent="0" marL="0">
              <a:lnSpc>
                <a:spcPts val="11000"/>
              </a:lnSpc>
              <a:buNone/>
            </a:pPr>
            <a:r>
              <a:rPr lang="en-US" sz="11000" b="1" i="0" dirty="0">
                <a:solidFill>
                  <a:srgbClr val="F5F2EA"/>
                </a:solidFill>
                <a:latin typeface="Rubik" pitchFamily="34" charset="0"/>
                <a:ea typeface="Rubik" pitchFamily="34" charset="-122"/>
                <a:cs typeface="Rubik" pitchFamily="34" charset="-120"/>
              </a:rPr>
              <a:t>BHSMS</a:t>
            </a:r>
            <a:endParaRPr lang="en-US" sz="11000" dirty="0"/>
          </a:p>
        </p:txBody>
      </p:sp>
      <p:sp>
        <p:nvSpPr>
          <p:cNvPr id="7" name="Text 3"/>
          <p:cNvSpPr/>
          <p:nvPr/>
        </p:nvSpPr>
        <p:spPr>
          <a:xfrm>
            <a:off x="812800" y="3175000"/>
            <a:ext cx="863600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9C4C1"/>
                </a:solidFill>
                <a:latin typeface="Public Sans" pitchFamily="34" charset="0"/>
                <a:ea typeface="Public Sans" pitchFamily="34" charset="-122"/>
                <a:cs typeface="Public Sans" pitchFamily="34" charset="-120"/>
              </a:rPr>
              <a:t>How the system works — from the health station to the code</a:t>
            </a:r>
            <a:endParaRPr lang="en-US" sz="2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4C1"/>
                </a:solidFill>
                <a:latin typeface="Public Sans" pitchFamily="34" charset="0"/>
                <a:ea typeface="Public Sans" pitchFamily="34" charset="-122"/>
                <a:cs typeface="Public Sans" pitchFamily="34" charset="-120"/>
              </a:rPr>
              <a:t>Municipality of Bucay, Abra · Palaquio · Tabiog · Babangcag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10160000" y="660400"/>
            <a:ext cx="1219200" cy="1219200"/>
          </a:xfrm>
          <a:prstGeom prst="roundRect">
            <a:avLst>
              <a:gd name="adj" fmla="val 50000"/>
            </a:avLst>
          </a:prstGeom>
          <a:solidFill>
            <a:srgbClr val="E2703A"/>
          </a:solidFill>
          <a:ln/>
        </p:spPr>
      </p:sp>
      <p:pic>
        <p:nvPicPr>
          <p:cNvPr id="3" name="Image 0" descr="Activity">    </p:cNvPr>
          <p:cNvPicPr>
            <a:picLocks noChangeAspect="1"/>
          </p:cNvPicPr>
          <p:nvPr/>
        </p:nvPicPr>
        <p:blipFill>
          <a:blip r:embed="rId1"/>
          <a:srcRect l="0" r="0" t="0" b="0"/>
          <a:stretch/>
        </p:blipFill>
        <p:spPr>
          <a:xfrm>
            <a:off x="10452100" y="952500"/>
            <a:ext cx="635000" cy="635000"/>
          </a:xfrm>
          <a:prstGeom prst="rect">
            <a:avLst/>
          </a:prstGeom>
        </p:spPr>
      </p:pic>
      <p:sp>
        <p:nvSpPr>
          <p:cNvPr id="4" name="Text 1"/>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OVERVIEW</a:t>
            </a:r>
            <a:endParaRPr lang="en-US" sz="1300" dirty="0"/>
          </a:p>
        </p:txBody>
      </p:sp>
      <p:sp>
        <p:nvSpPr>
          <p:cNvPr id="5" name="Text 2"/>
          <p:cNvSpPr/>
          <p:nvPr>
            <p:ph type="title"/>
          </p:nvPr>
        </p:nvSpPr>
        <p:spPr>
          <a:xfrm>
            <a:off x="812800" y="939800"/>
            <a:ext cx="9156700"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One system for three barangay health stations</a:t>
            </a:r>
            <a:endParaRPr lang="en-US" sz="3600" dirty="0"/>
          </a:p>
        </p:txBody>
      </p:sp>
      <p:sp>
        <p:nvSpPr>
          <p:cNvPr id="6" name="Text 3"/>
          <p:cNvSpPr/>
          <p:nvPr/>
        </p:nvSpPr>
        <p:spPr>
          <a:xfrm>
            <a:off x="812800" y="2159000"/>
            <a:ext cx="85026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A5C"/>
                </a:solidFill>
                <a:latin typeface="Public Sans" pitchFamily="34" charset="0"/>
                <a:ea typeface="Public Sans" pitchFamily="34" charset="-122"/>
                <a:cs typeface="Public Sans" pitchFamily="34" charset="-120"/>
              </a:rPr>
              <a:t>BHSMS records residents, vital signs, pregnancies and vaccines. It keeps working offline and syncs to the cloud when the signal comes back.</a:t>
            </a:r>
            <a:endParaRPr lang="en-US" sz="1600" dirty="0"/>
          </a:p>
        </p:txBody>
      </p:sp>
      <p:sp>
        <p:nvSpPr>
          <p:cNvPr id="7" name="Shape 4"/>
          <p:cNvSpPr/>
          <p:nvPr/>
        </p:nvSpPr>
        <p:spPr>
          <a:xfrm>
            <a:off x="812800" y="3314700"/>
            <a:ext cx="2489200" cy="0"/>
          </a:xfrm>
          <a:prstGeom prst="line">
            <a:avLst/>
          </a:prstGeom>
          <a:noFill/>
          <a:ln w="25400">
            <a:solidFill>
              <a:srgbClr val="E2703A"/>
            </a:solidFill>
            <a:prstDash val="solid"/>
          </a:ln>
        </p:spPr>
      </p:sp>
      <p:sp>
        <p:nvSpPr>
          <p:cNvPr id="8" name="Text 5"/>
          <p:cNvSpPr/>
          <p:nvPr/>
        </p:nvSpPr>
        <p:spPr>
          <a:xfrm>
            <a:off x="812800" y="347980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0272B"/>
                </a:solidFill>
                <a:latin typeface="Rubik" pitchFamily="34" charset="0"/>
                <a:ea typeface="Rubik" pitchFamily="34" charset="-122"/>
                <a:cs typeface="Rubik" pitchFamily="34" charset="-120"/>
              </a:rPr>
              <a:t>3</a:t>
            </a:r>
            <a:endParaRPr lang="en-US" sz="6000" dirty="0"/>
          </a:p>
        </p:txBody>
      </p:sp>
      <p:sp>
        <p:nvSpPr>
          <p:cNvPr id="9" name="Text 6"/>
          <p:cNvSpPr/>
          <p:nvPr/>
        </p:nvSpPr>
        <p:spPr>
          <a:xfrm>
            <a:off x="812800" y="4292600"/>
            <a:ext cx="25638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C"/>
                </a:solidFill>
                <a:latin typeface="Public Sans" pitchFamily="34" charset="0"/>
                <a:ea typeface="Public Sans" pitchFamily="34" charset="-122"/>
                <a:cs typeface="Public Sans" pitchFamily="34" charset="-120"/>
              </a:rPr>
              <a:t>barangays: Palaquio, Tabiog, Babangcag</a:t>
            </a:r>
            <a:endParaRPr lang="en-US" sz="1400" dirty="0"/>
          </a:p>
        </p:txBody>
      </p:sp>
      <p:sp>
        <p:nvSpPr>
          <p:cNvPr id="10" name="Shape 7"/>
          <p:cNvSpPr/>
          <p:nvPr/>
        </p:nvSpPr>
        <p:spPr>
          <a:xfrm>
            <a:off x="3505200" y="3314700"/>
            <a:ext cx="2489200" cy="0"/>
          </a:xfrm>
          <a:prstGeom prst="line">
            <a:avLst/>
          </a:prstGeom>
          <a:noFill/>
          <a:ln w="25400">
            <a:solidFill>
              <a:srgbClr val="E2703A"/>
            </a:solidFill>
            <a:prstDash val="solid"/>
          </a:ln>
        </p:spPr>
      </p:sp>
      <p:sp>
        <p:nvSpPr>
          <p:cNvPr id="11" name="Text 8"/>
          <p:cNvSpPr/>
          <p:nvPr/>
        </p:nvSpPr>
        <p:spPr>
          <a:xfrm>
            <a:off x="3505200" y="347980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0272B"/>
                </a:solidFill>
                <a:latin typeface="Rubik" pitchFamily="34" charset="0"/>
                <a:ea typeface="Rubik" pitchFamily="34" charset="-122"/>
                <a:cs typeface="Rubik" pitchFamily="34" charset="-120"/>
              </a:rPr>
              <a:t>5</a:t>
            </a:r>
            <a:endParaRPr lang="en-US" sz="6000" dirty="0"/>
          </a:p>
        </p:txBody>
      </p:sp>
      <p:sp>
        <p:nvSpPr>
          <p:cNvPr id="12" name="Text 9"/>
          <p:cNvSpPr/>
          <p:nvPr/>
        </p:nvSpPr>
        <p:spPr>
          <a:xfrm>
            <a:off x="3505200" y="4292600"/>
            <a:ext cx="25638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C"/>
                </a:solidFill>
                <a:latin typeface="Public Sans" pitchFamily="34" charset="0"/>
                <a:ea typeface="Public Sans" pitchFamily="34" charset="-122"/>
                <a:cs typeface="Public Sans" pitchFamily="34" charset="-120"/>
              </a:rPr>
              <a:t>user roles, from BHW to admin</a:t>
            </a:r>
            <a:endParaRPr lang="en-US" sz="1400" dirty="0"/>
          </a:p>
        </p:txBody>
      </p:sp>
      <p:sp>
        <p:nvSpPr>
          <p:cNvPr id="13" name="Shape 10"/>
          <p:cNvSpPr/>
          <p:nvPr/>
        </p:nvSpPr>
        <p:spPr>
          <a:xfrm>
            <a:off x="6197600" y="3314700"/>
            <a:ext cx="2489200" cy="0"/>
          </a:xfrm>
          <a:prstGeom prst="line">
            <a:avLst/>
          </a:prstGeom>
          <a:noFill/>
          <a:ln w="25400">
            <a:solidFill>
              <a:srgbClr val="E2703A"/>
            </a:solidFill>
            <a:prstDash val="solid"/>
          </a:ln>
        </p:spPr>
      </p:sp>
      <p:sp>
        <p:nvSpPr>
          <p:cNvPr id="14" name="Text 11"/>
          <p:cNvSpPr/>
          <p:nvPr/>
        </p:nvSpPr>
        <p:spPr>
          <a:xfrm>
            <a:off x="6197600" y="347980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0272B"/>
                </a:solidFill>
                <a:latin typeface="Rubik" pitchFamily="34" charset="0"/>
                <a:ea typeface="Rubik" pitchFamily="34" charset="-122"/>
                <a:cs typeface="Rubik" pitchFamily="34" charset="-120"/>
              </a:rPr>
              <a:t>10</a:t>
            </a:r>
            <a:endParaRPr lang="en-US" sz="6000" dirty="0"/>
          </a:p>
        </p:txBody>
      </p:sp>
      <p:sp>
        <p:nvSpPr>
          <p:cNvPr id="15" name="Text 12"/>
          <p:cNvSpPr/>
          <p:nvPr/>
        </p:nvSpPr>
        <p:spPr>
          <a:xfrm>
            <a:off x="6197600" y="4292600"/>
            <a:ext cx="25638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C"/>
                </a:solidFill>
                <a:latin typeface="Public Sans" pitchFamily="34" charset="0"/>
                <a:ea typeface="Public Sans" pitchFamily="34" charset="-122"/>
                <a:cs typeface="Public Sans" pitchFamily="34" charset="-120"/>
              </a:rPr>
              <a:t>modules a user can be granted</a:t>
            </a:r>
            <a:endParaRPr lang="en-US" sz="1400" dirty="0"/>
          </a:p>
        </p:txBody>
      </p:sp>
      <p:sp>
        <p:nvSpPr>
          <p:cNvPr id="16" name="Shape 13"/>
          <p:cNvSpPr/>
          <p:nvPr/>
        </p:nvSpPr>
        <p:spPr>
          <a:xfrm>
            <a:off x="8890000" y="3314700"/>
            <a:ext cx="2489200" cy="0"/>
          </a:xfrm>
          <a:prstGeom prst="line">
            <a:avLst/>
          </a:prstGeom>
          <a:noFill/>
          <a:ln w="25400">
            <a:solidFill>
              <a:srgbClr val="E2703A"/>
            </a:solidFill>
            <a:prstDash val="solid"/>
          </a:ln>
        </p:spPr>
      </p:sp>
      <p:sp>
        <p:nvSpPr>
          <p:cNvPr id="17" name="Text 14"/>
          <p:cNvSpPr/>
          <p:nvPr/>
        </p:nvSpPr>
        <p:spPr>
          <a:xfrm>
            <a:off x="8890000" y="347980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0272B"/>
                </a:solidFill>
                <a:latin typeface="Rubik" pitchFamily="34" charset="0"/>
                <a:ea typeface="Rubik" pitchFamily="34" charset="-122"/>
                <a:cs typeface="Rubik" pitchFamily="34" charset="-120"/>
              </a:rPr>
              <a:t>1</a:t>
            </a:r>
            <a:endParaRPr lang="en-US" sz="6000" dirty="0"/>
          </a:p>
        </p:txBody>
      </p:sp>
      <p:sp>
        <p:nvSpPr>
          <p:cNvPr id="18" name="Text 15"/>
          <p:cNvSpPr/>
          <p:nvPr/>
        </p:nvSpPr>
        <p:spPr>
          <a:xfrm>
            <a:off x="8890000" y="4292600"/>
            <a:ext cx="25638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C"/>
                </a:solidFill>
                <a:latin typeface="Public Sans" pitchFamily="34" charset="0"/>
                <a:ea typeface="Public Sans" pitchFamily="34" charset="-122"/>
                <a:cs typeface="Public Sans" pitchFamily="34" charset="-120"/>
              </a:rPr>
              <a:t>unique patient ID (UPI) per resident</a:t>
            </a:r>
            <a:endParaRPr lang="en-US" sz="1400" dirty="0"/>
          </a:p>
        </p:txBody>
      </p:sp>
      <p:pic>
        <p:nvPicPr>
          <p:cNvPr id="19" name="Image 1" descr="Cloud">    </p:cNvPr>
          <p:cNvPicPr>
            <a:picLocks noChangeAspect="1"/>
          </p:cNvPicPr>
          <p:nvPr/>
        </p:nvPicPr>
        <p:blipFill>
          <a:blip r:embed="rId2"/>
          <a:srcRect l="0" r="0" t="0" b="0"/>
          <a:stretch/>
        </p:blipFill>
        <p:spPr>
          <a:xfrm>
            <a:off x="812800" y="5080000"/>
            <a:ext cx="355600" cy="355600"/>
          </a:xfrm>
          <a:prstGeom prst="rect">
            <a:avLst/>
          </a:prstGeom>
        </p:spPr>
      </p:pic>
      <p:sp>
        <p:nvSpPr>
          <p:cNvPr id="20" name="Text 16"/>
          <p:cNvSpPr/>
          <p:nvPr/>
        </p:nvSpPr>
        <p:spPr>
          <a:xfrm>
            <a:off x="1320800" y="5133380"/>
            <a:ext cx="664106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272B"/>
                </a:solidFill>
                <a:latin typeface="Public Sans" pitchFamily="34" charset="0"/>
                <a:ea typeface="Public Sans" pitchFamily="34" charset="-122"/>
                <a:cs typeface="Public Sans" pitchFamily="34" charset="-120"/>
              </a:rPr>
              <a:t>Offline-first: data is saved in the browser, then synced to Supabase.</a:t>
            </a:r>
            <a:endParaRPr lang="en-US" sz="1400" dirty="0"/>
          </a:p>
        </p:txBody>
      </p:sp>
      <p:sp>
        <p:nvSpPr>
          <p:cNvPr id="21"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22"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WHO USES IT</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Five roles, each with its own modules</a:t>
            </a:r>
            <a:endParaRPr lang="en-US" sz="3600" dirty="0"/>
          </a:p>
        </p:txBody>
      </p:sp>
      <p:sp>
        <p:nvSpPr>
          <p:cNvPr id="4" name="Shape 2"/>
          <p:cNvSpPr/>
          <p:nvPr/>
        </p:nvSpPr>
        <p:spPr>
          <a:xfrm>
            <a:off x="815975" y="1908175"/>
            <a:ext cx="2025650" cy="3376513"/>
          </a:xfrm>
          <a:prstGeom prst="roundRect">
            <a:avLst>
              <a:gd name="adj" fmla="val 6113"/>
            </a:avLst>
          </a:prstGeom>
          <a:solidFill>
            <a:srgbClr val="FBFAF6"/>
          </a:solidFill>
          <a:ln w="6350">
            <a:solidFill>
              <a:srgbClr val="DDD6C6"/>
            </a:solidFill>
            <a:prstDash val="solid"/>
          </a:ln>
        </p:spPr>
      </p:sp>
      <p:pic>
        <p:nvPicPr>
          <p:cNvPr id="5" name="Image 0" descr="Home">    </p:cNvPr>
          <p:cNvPicPr>
            <a:picLocks noChangeAspect="1"/>
          </p:cNvPicPr>
          <p:nvPr/>
        </p:nvPicPr>
        <p:blipFill>
          <a:blip r:embed="rId1"/>
          <a:srcRect l="0" r="0" t="0" b="0"/>
          <a:stretch/>
        </p:blipFill>
        <p:spPr>
          <a:xfrm>
            <a:off x="1047750" y="2139950"/>
            <a:ext cx="406400" cy="406400"/>
          </a:xfrm>
          <a:prstGeom prst="rect">
            <a:avLst/>
          </a:prstGeom>
        </p:spPr>
      </p:pic>
      <p:sp>
        <p:nvSpPr>
          <p:cNvPr id="6" name="Text 3"/>
          <p:cNvSpPr/>
          <p:nvPr/>
        </p:nvSpPr>
        <p:spPr>
          <a:xfrm>
            <a:off x="1047750" y="2647950"/>
            <a:ext cx="16129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72B"/>
                </a:solidFill>
                <a:latin typeface="Rubik" pitchFamily="34" charset="0"/>
                <a:ea typeface="Rubik" pitchFamily="34" charset="-122"/>
                <a:cs typeface="Rubik" pitchFamily="34" charset="-120"/>
              </a:rPr>
              <a:t>BHW</a:t>
            </a:r>
            <a:endParaRPr lang="en-US" sz="2000" dirty="0"/>
          </a:p>
        </p:txBody>
      </p:sp>
      <p:sp>
        <p:nvSpPr>
          <p:cNvPr id="7" name="Text 4"/>
          <p:cNvSpPr/>
          <p:nvPr/>
        </p:nvSpPr>
        <p:spPr>
          <a:xfrm>
            <a:off x="1047750" y="3054350"/>
            <a:ext cx="16129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Elena Bagani · Palaquio BHS</a:t>
            </a:r>
            <a:endParaRPr lang="en-US" sz="1200" dirty="0"/>
          </a:p>
        </p:txBody>
      </p:sp>
      <p:sp>
        <p:nvSpPr>
          <p:cNvPr id="8" name="Text 5"/>
          <p:cNvSpPr/>
          <p:nvPr/>
        </p:nvSpPr>
        <p:spPr>
          <a:xfrm>
            <a:off x="1047750" y="3582591"/>
            <a:ext cx="1612900"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Registers residents, takes vitals and follows up missed vaccines in the purok.</a:t>
            </a:r>
            <a:endParaRPr lang="en-US" sz="1300" dirty="0"/>
          </a:p>
        </p:txBody>
      </p:sp>
      <p:sp>
        <p:nvSpPr>
          <p:cNvPr id="9" name="Text 6"/>
          <p:cNvSpPr/>
          <p:nvPr/>
        </p:nvSpPr>
        <p:spPr>
          <a:xfrm>
            <a:off x="1047750" y="4839593"/>
            <a:ext cx="16129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Public Sans" pitchFamily="34" charset="0"/>
                <a:ea typeface="Public Sans" pitchFamily="34" charset="-122"/>
                <a:cs typeface="Public Sans" pitchFamily="34" charset="-120"/>
              </a:rPr>
              <a:t>4 modules</a:t>
            </a:r>
            <a:endParaRPr lang="en-US" sz="1200" dirty="0"/>
          </a:p>
        </p:txBody>
      </p:sp>
      <p:sp>
        <p:nvSpPr>
          <p:cNvPr id="10" name="Shape 7"/>
          <p:cNvSpPr/>
          <p:nvPr/>
        </p:nvSpPr>
        <p:spPr>
          <a:xfrm>
            <a:off x="2949575" y="1908175"/>
            <a:ext cx="2025650" cy="3450233"/>
          </a:xfrm>
          <a:prstGeom prst="roundRect">
            <a:avLst>
              <a:gd name="adj" fmla="val 6113"/>
            </a:avLst>
          </a:prstGeom>
          <a:solidFill>
            <a:srgbClr val="FBFAF6"/>
          </a:solidFill>
          <a:ln w="6350">
            <a:solidFill>
              <a:srgbClr val="DDD6C6"/>
            </a:solidFill>
            <a:prstDash val="solid"/>
          </a:ln>
        </p:spPr>
      </p:sp>
      <p:pic>
        <p:nvPicPr>
          <p:cNvPr id="11" name="Image 1" descr="Activity">    </p:cNvPr>
          <p:cNvPicPr>
            <a:picLocks noChangeAspect="1"/>
          </p:cNvPicPr>
          <p:nvPr/>
        </p:nvPicPr>
        <p:blipFill>
          <a:blip r:embed="rId2"/>
          <a:srcRect l="0" r="0" t="0" b="0"/>
          <a:stretch/>
        </p:blipFill>
        <p:spPr>
          <a:xfrm>
            <a:off x="3181350" y="2139950"/>
            <a:ext cx="406400" cy="406400"/>
          </a:xfrm>
          <a:prstGeom prst="rect">
            <a:avLst/>
          </a:prstGeom>
        </p:spPr>
      </p:pic>
      <p:sp>
        <p:nvSpPr>
          <p:cNvPr id="12" name="Text 8"/>
          <p:cNvSpPr/>
          <p:nvPr/>
        </p:nvSpPr>
        <p:spPr>
          <a:xfrm>
            <a:off x="3181350" y="2647950"/>
            <a:ext cx="161290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72B"/>
                </a:solidFill>
                <a:latin typeface="Rubik" pitchFamily="34" charset="0"/>
                <a:ea typeface="Rubik" pitchFamily="34" charset="-122"/>
                <a:cs typeface="Rubik" pitchFamily="34" charset="-120"/>
              </a:rPr>
              <a:t>Nurse / Midwife</a:t>
            </a:r>
            <a:endParaRPr lang="en-US" sz="2000" dirty="0"/>
          </a:p>
        </p:txBody>
      </p:sp>
      <p:sp>
        <p:nvSpPr>
          <p:cNvPr id="13" name="Text 9"/>
          <p:cNvSpPr/>
          <p:nvPr/>
        </p:nvSpPr>
        <p:spPr>
          <a:xfrm>
            <a:off x="3181350" y="3359150"/>
            <a:ext cx="16129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Corazon Valdez, RM · Tabiog</a:t>
            </a:r>
            <a:endParaRPr lang="en-US" sz="1200" dirty="0"/>
          </a:p>
        </p:txBody>
      </p:sp>
      <p:sp>
        <p:nvSpPr>
          <p:cNvPr id="14" name="Text 10"/>
          <p:cNvSpPr/>
          <p:nvPr/>
        </p:nvSpPr>
        <p:spPr>
          <a:xfrm>
            <a:off x="3181350" y="3887391"/>
            <a:ext cx="1612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Runs triage, enrols pregnancies, tracks ANC visits and writes referrals.</a:t>
            </a:r>
            <a:endParaRPr lang="en-US" sz="1300" dirty="0"/>
          </a:p>
        </p:txBody>
      </p:sp>
      <p:sp>
        <p:nvSpPr>
          <p:cNvPr id="15" name="Text 11"/>
          <p:cNvSpPr/>
          <p:nvPr/>
        </p:nvSpPr>
        <p:spPr>
          <a:xfrm>
            <a:off x="3181350" y="4913313"/>
            <a:ext cx="16129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Public Sans" pitchFamily="34" charset="0"/>
                <a:ea typeface="Public Sans" pitchFamily="34" charset="-122"/>
                <a:cs typeface="Public Sans" pitchFamily="34" charset="-120"/>
              </a:rPr>
              <a:t>6 modules</a:t>
            </a:r>
            <a:endParaRPr lang="en-US" sz="1200" dirty="0"/>
          </a:p>
        </p:txBody>
      </p:sp>
      <p:sp>
        <p:nvSpPr>
          <p:cNvPr id="16" name="Shape 12"/>
          <p:cNvSpPr/>
          <p:nvPr/>
        </p:nvSpPr>
        <p:spPr>
          <a:xfrm>
            <a:off x="5083175" y="1908175"/>
            <a:ext cx="2025650" cy="3681313"/>
          </a:xfrm>
          <a:prstGeom prst="roundRect">
            <a:avLst>
              <a:gd name="adj" fmla="val 6113"/>
            </a:avLst>
          </a:prstGeom>
          <a:solidFill>
            <a:srgbClr val="FBFAF6"/>
          </a:solidFill>
          <a:ln w="6350">
            <a:solidFill>
              <a:srgbClr val="DDD6C6"/>
            </a:solidFill>
            <a:prstDash val="solid"/>
          </a:ln>
        </p:spPr>
      </p:sp>
      <p:pic>
        <p:nvPicPr>
          <p:cNvPr id="17" name="Image 2" descr="CheckCircle">    </p:cNvPr>
          <p:cNvPicPr>
            <a:picLocks noChangeAspect="1"/>
          </p:cNvPicPr>
          <p:nvPr/>
        </p:nvPicPr>
        <p:blipFill>
          <a:blip r:embed="rId3"/>
          <a:srcRect l="0" r="0" t="0" b="0"/>
          <a:stretch/>
        </p:blipFill>
        <p:spPr>
          <a:xfrm>
            <a:off x="5314950" y="2139950"/>
            <a:ext cx="406400" cy="406400"/>
          </a:xfrm>
          <a:prstGeom prst="rect">
            <a:avLst/>
          </a:prstGeom>
        </p:spPr>
      </p:pic>
      <p:sp>
        <p:nvSpPr>
          <p:cNvPr id="18" name="Text 13"/>
          <p:cNvSpPr/>
          <p:nvPr/>
        </p:nvSpPr>
        <p:spPr>
          <a:xfrm>
            <a:off x="5314950" y="2647950"/>
            <a:ext cx="161290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72B"/>
                </a:solidFill>
                <a:latin typeface="Rubik" pitchFamily="34" charset="0"/>
                <a:ea typeface="Rubik" pitchFamily="34" charset="-122"/>
                <a:cs typeface="Rubik" pitchFamily="34" charset="-120"/>
              </a:rPr>
              <a:t>Doctor (MHO)</a:t>
            </a:r>
            <a:endParaRPr lang="en-US" sz="2000" dirty="0"/>
          </a:p>
        </p:txBody>
      </p:sp>
      <p:sp>
        <p:nvSpPr>
          <p:cNvPr id="19" name="Text 14"/>
          <p:cNvSpPr/>
          <p:nvPr/>
        </p:nvSpPr>
        <p:spPr>
          <a:xfrm>
            <a:off x="5314950" y="3359150"/>
            <a:ext cx="16129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Dr. Arthur Alcantara · MHO</a:t>
            </a:r>
            <a:endParaRPr lang="en-US" sz="1200" dirty="0"/>
          </a:p>
        </p:txBody>
      </p:sp>
      <p:sp>
        <p:nvSpPr>
          <p:cNvPr id="20" name="Text 15"/>
          <p:cNvSpPr/>
          <p:nvPr/>
        </p:nvSpPr>
        <p:spPr>
          <a:xfrm>
            <a:off x="5314950" y="3887391"/>
            <a:ext cx="1612900"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Reads patient charts, records diagnoses and reviews disease trends.</a:t>
            </a:r>
            <a:endParaRPr lang="en-US" sz="1300" dirty="0"/>
          </a:p>
        </p:txBody>
      </p:sp>
      <p:sp>
        <p:nvSpPr>
          <p:cNvPr id="21" name="Text 16"/>
          <p:cNvSpPr/>
          <p:nvPr/>
        </p:nvSpPr>
        <p:spPr>
          <a:xfrm>
            <a:off x="5314950" y="5144393"/>
            <a:ext cx="16129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Public Sans" pitchFamily="34" charset="0"/>
                <a:ea typeface="Public Sans" pitchFamily="34" charset="-122"/>
                <a:cs typeface="Public Sans" pitchFamily="34" charset="-120"/>
              </a:rPr>
              <a:t>7 modules</a:t>
            </a:r>
            <a:endParaRPr lang="en-US" sz="1200" dirty="0"/>
          </a:p>
        </p:txBody>
      </p:sp>
      <p:sp>
        <p:nvSpPr>
          <p:cNvPr id="22" name="Shape 17"/>
          <p:cNvSpPr/>
          <p:nvPr/>
        </p:nvSpPr>
        <p:spPr>
          <a:xfrm>
            <a:off x="7216775" y="1908175"/>
            <a:ext cx="2025650" cy="3145433"/>
          </a:xfrm>
          <a:prstGeom prst="roundRect">
            <a:avLst>
              <a:gd name="adj" fmla="val 6113"/>
            </a:avLst>
          </a:prstGeom>
          <a:solidFill>
            <a:srgbClr val="FBFAF6"/>
          </a:solidFill>
          <a:ln w="6350">
            <a:solidFill>
              <a:srgbClr val="DDD6C6"/>
            </a:solidFill>
            <a:prstDash val="solid"/>
          </a:ln>
        </p:spPr>
      </p:sp>
      <p:pic>
        <p:nvPicPr>
          <p:cNvPr id="23" name="Image 3" descr="Chart">    </p:cNvPr>
          <p:cNvPicPr>
            <a:picLocks noChangeAspect="1"/>
          </p:cNvPicPr>
          <p:nvPr/>
        </p:nvPicPr>
        <p:blipFill>
          <a:blip r:embed="rId4"/>
          <a:srcRect l="0" r="0" t="0" b="0"/>
          <a:stretch/>
        </p:blipFill>
        <p:spPr>
          <a:xfrm>
            <a:off x="7448550" y="2139950"/>
            <a:ext cx="406400" cy="406400"/>
          </a:xfrm>
          <a:prstGeom prst="rect">
            <a:avLst/>
          </a:prstGeom>
        </p:spPr>
      </p:pic>
      <p:sp>
        <p:nvSpPr>
          <p:cNvPr id="24" name="Text 18"/>
          <p:cNvSpPr/>
          <p:nvPr/>
        </p:nvSpPr>
        <p:spPr>
          <a:xfrm>
            <a:off x="7448550" y="2647950"/>
            <a:ext cx="16129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72B"/>
                </a:solidFill>
                <a:latin typeface="Rubik" pitchFamily="34" charset="0"/>
                <a:ea typeface="Rubik" pitchFamily="34" charset="-122"/>
                <a:cs typeface="Rubik" pitchFamily="34" charset="-120"/>
              </a:rPr>
              <a:t>LGU Viewer</a:t>
            </a:r>
            <a:endParaRPr lang="en-US" sz="2000" dirty="0"/>
          </a:p>
        </p:txBody>
      </p:sp>
      <p:sp>
        <p:nvSpPr>
          <p:cNvPr id="25" name="Text 19"/>
          <p:cNvSpPr/>
          <p:nvPr/>
        </p:nvSpPr>
        <p:spPr>
          <a:xfrm>
            <a:off x="7448550" y="3054350"/>
            <a:ext cx="16129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Hon. Ramon Balbin · Tabiog</a:t>
            </a:r>
            <a:endParaRPr lang="en-US" sz="1200" dirty="0"/>
          </a:p>
        </p:txBody>
      </p:sp>
      <p:sp>
        <p:nvSpPr>
          <p:cNvPr id="26" name="Text 20"/>
          <p:cNvSpPr/>
          <p:nvPr/>
        </p:nvSpPr>
        <p:spPr>
          <a:xfrm>
            <a:off x="7448550" y="3582591"/>
            <a:ext cx="1612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Sees totals and reports only, never a single patient’s record.</a:t>
            </a:r>
            <a:endParaRPr lang="en-US" sz="1300" dirty="0"/>
          </a:p>
        </p:txBody>
      </p:sp>
      <p:sp>
        <p:nvSpPr>
          <p:cNvPr id="27" name="Text 21"/>
          <p:cNvSpPr/>
          <p:nvPr/>
        </p:nvSpPr>
        <p:spPr>
          <a:xfrm>
            <a:off x="7448550" y="4608513"/>
            <a:ext cx="16129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Public Sans" pitchFamily="34" charset="0"/>
                <a:ea typeface="Public Sans" pitchFamily="34" charset="-122"/>
                <a:cs typeface="Public Sans" pitchFamily="34" charset="-120"/>
              </a:rPr>
              <a:t>2 modules</a:t>
            </a:r>
            <a:endParaRPr lang="en-US" sz="1200" dirty="0"/>
          </a:p>
        </p:txBody>
      </p:sp>
      <p:sp>
        <p:nvSpPr>
          <p:cNvPr id="28" name="Shape 22"/>
          <p:cNvSpPr/>
          <p:nvPr/>
        </p:nvSpPr>
        <p:spPr>
          <a:xfrm>
            <a:off x="9350375" y="1908175"/>
            <a:ext cx="2025650" cy="3145433"/>
          </a:xfrm>
          <a:prstGeom prst="roundRect">
            <a:avLst>
              <a:gd name="adj" fmla="val 6113"/>
            </a:avLst>
          </a:prstGeom>
          <a:solidFill>
            <a:srgbClr val="10272B"/>
          </a:solidFill>
          <a:ln w="6350">
            <a:solidFill>
              <a:srgbClr val="10272B"/>
            </a:solidFill>
            <a:prstDash val="solid"/>
          </a:ln>
        </p:spPr>
      </p:sp>
      <p:pic>
        <p:nvPicPr>
          <p:cNvPr id="29" name="Image 4" descr="Settings">    </p:cNvPr>
          <p:cNvPicPr>
            <a:picLocks noChangeAspect="1"/>
          </p:cNvPicPr>
          <p:nvPr/>
        </p:nvPicPr>
        <p:blipFill>
          <a:blip r:embed="rId5"/>
          <a:srcRect l="0" r="0" t="0" b="0"/>
          <a:stretch/>
        </p:blipFill>
        <p:spPr>
          <a:xfrm>
            <a:off x="9582150" y="2139950"/>
            <a:ext cx="406400" cy="406400"/>
          </a:xfrm>
          <a:prstGeom prst="rect">
            <a:avLst/>
          </a:prstGeom>
        </p:spPr>
      </p:pic>
      <p:sp>
        <p:nvSpPr>
          <p:cNvPr id="30" name="Text 23"/>
          <p:cNvSpPr/>
          <p:nvPr/>
        </p:nvSpPr>
        <p:spPr>
          <a:xfrm>
            <a:off x="9582150" y="2647950"/>
            <a:ext cx="16129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2EA"/>
                </a:solidFill>
                <a:latin typeface="Rubik" pitchFamily="34" charset="0"/>
                <a:ea typeface="Rubik" pitchFamily="34" charset="-122"/>
                <a:cs typeface="Rubik" pitchFamily="34" charset="-120"/>
              </a:rPr>
              <a:t>Admin</a:t>
            </a:r>
            <a:endParaRPr lang="en-US" sz="2000" dirty="0"/>
          </a:p>
        </p:txBody>
      </p:sp>
      <p:sp>
        <p:nvSpPr>
          <p:cNvPr id="31" name="Text 24"/>
          <p:cNvSpPr/>
          <p:nvPr/>
        </p:nvSpPr>
        <p:spPr>
          <a:xfrm>
            <a:off x="9582150" y="3054350"/>
            <a:ext cx="16129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4C1"/>
                </a:solidFill>
                <a:latin typeface="Public Sans" pitchFamily="34" charset="0"/>
                <a:ea typeface="Public Sans" pitchFamily="34" charset="-122"/>
                <a:cs typeface="Public Sans" pitchFamily="34" charset="-120"/>
              </a:rPr>
              <a:t>System Administrator · Bucay</a:t>
            </a:r>
            <a:endParaRPr lang="en-US" sz="1200" dirty="0"/>
          </a:p>
        </p:txBody>
      </p:sp>
      <p:sp>
        <p:nvSpPr>
          <p:cNvPr id="32" name="Text 25"/>
          <p:cNvSpPr/>
          <p:nvPr/>
        </p:nvSpPr>
        <p:spPr>
          <a:xfrm>
            <a:off x="9582150" y="3582591"/>
            <a:ext cx="1612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Public Sans" pitchFamily="34" charset="0"/>
                <a:ea typeface="Public Sans" pitchFamily="34" charset="-122"/>
                <a:cs typeface="Public Sans" pitchFamily="34" charset="-120"/>
              </a:rPr>
              <a:t>Creates accounts, sets each user’s modules and runs cloud sync.</a:t>
            </a:r>
            <a:endParaRPr lang="en-US" sz="1300" dirty="0"/>
          </a:p>
        </p:txBody>
      </p:sp>
      <p:sp>
        <p:nvSpPr>
          <p:cNvPr id="33" name="Text 26"/>
          <p:cNvSpPr/>
          <p:nvPr/>
        </p:nvSpPr>
        <p:spPr>
          <a:xfrm>
            <a:off x="9582150" y="4608513"/>
            <a:ext cx="16129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0"/>
                </a:solidFill>
                <a:latin typeface="Public Sans" pitchFamily="34" charset="0"/>
                <a:ea typeface="Public Sans" pitchFamily="34" charset="-122"/>
                <a:cs typeface="Public Sans" pitchFamily="34" charset="-120"/>
              </a:rPr>
              <a:t>All 10 modules</a:t>
            </a:r>
            <a:endParaRPr lang="en-US" sz="1200" dirty="0"/>
          </a:p>
        </p:txBody>
      </p:sp>
      <p:sp>
        <p:nvSpPr>
          <p:cNvPr id="34" name="Text 2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35"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9E4D8"/>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FUNCTIONS</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Ten modules in three groups</a:t>
            </a:r>
            <a:endParaRPr lang="en-US" sz="3600" dirty="0"/>
          </a:p>
        </p:txBody>
      </p:sp>
      <p:sp>
        <p:nvSpPr>
          <p:cNvPr id="4" name="Shape 2"/>
          <p:cNvSpPr/>
          <p:nvPr/>
        </p:nvSpPr>
        <p:spPr>
          <a:xfrm>
            <a:off x="812800" y="1905000"/>
            <a:ext cx="3352800" cy="2694781"/>
          </a:xfrm>
          <a:prstGeom prst="roundRect">
            <a:avLst>
              <a:gd name="adj" fmla="val 4713"/>
            </a:avLst>
          </a:prstGeom>
          <a:solidFill>
            <a:srgbClr val="F5F2EA"/>
          </a:solidFill>
          <a:ln/>
        </p:spPr>
      </p:sp>
      <p:sp>
        <p:nvSpPr>
          <p:cNvPr id="5" name="Text 3"/>
          <p:cNvSpPr/>
          <p:nvPr/>
        </p:nvSpPr>
        <p:spPr>
          <a:xfrm>
            <a:off x="1066800" y="215900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E6E"/>
                </a:solidFill>
                <a:latin typeface="Public Sans" pitchFamily="34" charset="0"/>
                <a:ea typeface="Public Sans" pitchFamily="34" charset="-122"/>
                <a:cs typeface="Public Sans" pitchFamily="34" charset="-120"/>
              </a:rPr>
              <a:t>FRONTLINE INTAKE</a:t>
            </a:r>
            <a:endParaRPr lang="en-US" sz="1200" dirty="0"/>
          </a:p>
        </p:txBody>
      </p:sp>
      <p:sp>
        <p:nvSpPr>
          <p:cNvPr id="6" name="Text 4"/>
          <p:cNvSpPr/>
          <p:nvPr/>
        </p:nvSpPr>
        <p:spPr>
          <a:xfrm>
            <a:off x="1066800" y="2524720"/>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Resident Registry</a:t>
            </a:r>
            <a:endParaRPr lang="en-US" sz="1500" dirty="0"/>
          </a:p>
        </p:txBody>
      </p:sp>
      <p:sp>
        <p:nvSpPr>
          <p:cNvPr id="7" name="Text 5"/>
          <p:cNvSpPr/>
          <p:nvPr/>
        </p:nvSpPr>
        <p:spPr>
          <a:xfrm>
            <a:off x="1066800" y="2816820"/>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/residents</a:t>
            </a:r>
            <a:endParaRPr lang="en-US" sz="1200" dirty="0"/>
          </a:p>
        </p:txBody>
      </p:sp>
      <p:sp>
        <p:nvSpPr>
          <p:cNvPr id="8" name="Text 6"/>
          <p:cNvSpPr/>
          <p:nvPr/>
        </p:nvSpPr>
        <p:spPr>
          <a:xfrm>
            <a:off x="1066800" y="3182541"/>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New Patient Intake</a:t>
            </a:r>
            <a:endParaRPr lang="en-US" sz="1500" dirty="0"/>
          </a:p>
        </p:txBody>
      </p:sp>
      <p:sp>
        <p:nvSpPr>
          <p:cNvPr id="9" name="Text 7"/>
          <p:cNvSpPr/>
          <p:nvPr/>
        </p:nvSpPr>
        <p:spPr>
          <a:xfrm>
            <a:off x="1066800" y="347464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/residents/register</a:t>
            </a:r>
            <a:endParaRPr lang="en-US" sz="1200" dirty="0"/>
          </a:p>
        </p:txBody>
      </p:sp>
      <p:sp>
        <p:nvSpPr>
          <p:cNvPr id="10" name="Text 8"/>
          <p:cNvSpPr/>
          <p:nvPr/>
        </p:nvSpPr>
        <p:spPr>
          <a:xfrm>
            <a:off x="1066800" y="3840361"/>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Vitals &amp; Triage</a:t>
            </a:r>
            <a:endParaRPr lang="en-US" sz="1500" dirty="0"/>
          </a:p>
        </p:txBody>
      </p:sp>
      <p:sp>
        <p:nvSpPr>
          <p:cNvPr id="11" name="Text 9"/>
          <p:cNvSpPr/>
          <p:nvPr/>
        </p:nvSpPr>
        <p:spPr>
          <a:xfrm>
            <a:off x="1066800" y="413246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/vitals</a:t>
            </a:r>
            <a:endParaRPr lang="en-US" sz="1200" dirty="0"/>
          </a:p>
        </p:txBody>
      </p:sp>
      <p:sp>
        <p:nvSpPr>
          <p:cNvPr id="12" name="Shape 10"/>
          <p:cNvSpPr/>
          <p:nvPr/>
        </p:nvSpPr>
        <p:spPr>
          <a:xfrm>
            <a:off x="4419600" y="1905000"/>
            <a:ext cx="3352800" cy="3352602"/>
          </a:xfrm>
          <a:prstGeom prst="roundRect">
            <a:avLst>
              <a:gd name="adj" fmla="val 3788"/>
            </a:avLst>
          </a:prstGeom>
          <a:solidFill>
            <a:srgbClr val="F5F2EA"/>
          </a:solidFill>
          <a:ln/>
        </p:spPr>
      </p:sp>
      <p:sp>
        <p:nvSpPr>
          <p:cNvPr id="13" name="Text 11"/>
          <p:cNvSpPr/>
          <p:nvPr/>
        </p:nvSpPr>
        <p:spPr>
          <a:xfrm>
            <a:off x="4673600" y="215900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E6E"/>
                </a:solidFill>
                <a:latin typeface="Public Sans" pitchFamily="34" charset="0"/>
                <a:ea typeface="Public Sans" pitchFamily="34" charset="-122"/>
                <a:cs typeface="Public Sans" pitchFamily="34" charset="-120"/>
              </a:rPr>
              <a:t>CLINICAL CARE</a:t>
            </a:r>
            <a:endParaRPr lang="en-US" sz="1200" dirty="0"/>
          </a:p>
        </p:txBody>
      </p:sp>
      <p:sp>
        <p:nvSpPr>
          <p:cNvPr id="14" name="Text 12"/>
          <p:cNvSpPr/>
          <p:nvPr/>
        </p:nvSpPr>
        <p:spPr>
          <a:xfrm>
            <a:off x="4673600" y="2524720"/>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Medical Patient Chart</a:t>
            </a:r>
            <a:endParaRPr lang="en-US" sz="1500" dirty="0"/>
          </a:p>
        </p:txBody>
      </p:sp>
      <p:sp>
        <p:nvSpPr>
          <p:cNvPr id="15" name="Text 13"/>
          <p:cNvSpPr/>
          <p:nvPr/>
        </p:nvSpPr>
        <p:spPr>
          <a:xfrm>
            <a:off x="4673600" y="2816820"/>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/residents (modal)</a:t>
            </a:r>
            <a:endParaRPr lang="en-US" sz="1200" dirty="0"/>
          </a:p>
        </p:txBody>
      </p:sp>
      <p:sp>
        <p:nvSpPr>
          <p:cNvPr id="16" name="Text 14"/>
          <p:cNvSpPr/>
          <p:nvPr/>
        </p:nvSpPr>
        <p:spPr>
          <a:xfrm>
            <a:off x="4673600" y="3182541"/>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Maternal Care (ANC)</a:t>
            </a:r>
            <a:endParaRPr lang="en-US" sz="1500" dirty="0"/>
          </a:p>
        </p:txBody>
      </p:sp>
      <p:sp>
        <p:nvSpPr>
          <p:cNvPr id="17" name="Text 15"/>
          <p:cNvSpPr/>
          <p:nvPr/>
        </p:nvSpPr>
        <p:spPr>
          <a:xfrm>
            <a:off x="4673600" y="347464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/maternal</a:t>
            </a:r>
            <a:endParaRPr lang="en-US" sz="1200" dirty="0"/>
          </a:p>
        </p:txBody>
      </p:sp>
      <p:sp>
        <p:nvSpPr>
          <p:cNvPr id="18" name="Text 16"/>
          <p:cNvSpPr/>
          <p:nvPr/>
        </p:nvSpPr>
        <p:spPr>
          <a:xfrm>
            <a:off x="4673600" y="3840361"/>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Child EPI</a:t>
            </a:r>
            <a:endParaRPr lang="en-US" sz="1500" dirty="0"/>
          </a:p>
        </p:txBody>
      </p:sp>
      <p:sp>
        <p:nvSpPr>
          <p:cNvPr id="19" name="Text 17"/>
          <p:cNvSpPr/>
          <p:nvPr/>
        </p:nvSpPr>
        <p:spPr>
          <a:xfrm>
            <a:off x="4673600" y="413246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/immunizations</a:t>
            </a:r>
            <a:endParaRPr lang="en-US" sz="1200" dirty="0"/>
          </a:p>
        </p:txBody>
      </p:sp>
      <p:sp>
        <p:nvSpPr>
          <p:cNvPr id="20" name="Text 18"/>
          <p:cNvSpPr/>
          <p:nvPr/>
        </p:nvSpPr>
        <p:spPr>
          <a:xfrm>
            <a:off x="4673600" y="4498181"/>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Hospital Referrals</a:t>
            </a:r>
            <a:endParaRPr lang="en-US" sz="1500" dirty="0"/>
          </a:p>
        </p:txBody>
      </p:sp>
      <p:sp>
        <p:nvSpPr>
          <p:cNvPr id="21" name="Text 19"/>
          <p:cNvSpPr/>
          <p:nvPr/>
        </p:nvSpPr>
        <p:spPr>
          <a:xfrm>
            <a:off x="4673600" y="479028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/reports/referral</a:t>
            </a:r>
            <a:endParaRPr lang="en-US" sz="1200" dirty="0"/>
          </a:p>
        </p:txBody>
      </p:sp>
      <p:sp>
        <p:nvSpPr>
          <p:cNvPr id="22" name="Shape 20"/>
          <p:cNvSpPr/>
          <p:nvPr/>
        </p:nvSpPr>
        <p:spPr>
          <a:xfrm>
            <a:off x="8026400" y="1905000"/>
            <a:ext cx="3352800" cy="2694781"/>
          </a:xfrm>
          <a:prstGeom prst="roundRect">
            <a:avLst>
              <a:gd name="adj" fmla="val 4713"/>
            </a:avLst>
          </a:prstGeom>
          <a:solidFill>
            <a:srgbClr val="F5F2EA"/>
          </a:solidFill>
          <a:ln/>
        </p:spPr>
      </p:sp>
      <p:sp>
        <p:nvSpPr>
          <p:cNvPr id="23" name="Text 21"/>
          <p:cNvSpPr/>
          <p:nvPr/>
        </p:nvSpPr>
        <p:spPr>
          <a:xfrm>
            <a:off x="8280400" y="215900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E6E"/>
                </a:solidFill>
                <a:latin typeface="Public Sans" pitchFamily="34" charset="0"/>
                <a:ea typeface="Public Sans" pitchFamily="34" charset="-122"/>
                <a:cs typeface="Public Sans" pitchFamily="34" charset="-120"/>
              </a:rPr>
              <a:t>GOVERNANCE</a:t>
            </a:r>
            <a:endParaRPr lang="en-US" sz="1200" dirty="0"/>
          </a:p>
        </p:txBody>
      </p:sp>
      <p:sp>
        <p:nvSpPr>
          <p:cNvPr id="24" name="Text 22"/>
          <p:cNvSpPr/>
          <p:nvPr/>
        </p:nvSpPr>
        <p:spPr>
          <a:xfrm>
            <a:off x="8280400" y="2524720"/>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Epidemiology Analytics</a:t>
            </a:r>
            <a:endParaRPr lang="en-US" sz="1500" dirty="0"/>
          </a:p>
        </p:txBody>
      </p:sp>
      <p:sp>
        <p:nvSpPr>
          <p:cNvPr id="25" name="Text 23"/>
          <p:cNvSpPr/>
          <p:nvPr/>
        </p:nvSpPr>
        <p:spPr>
          <a:xfrm>
            <a:off x="8280400" y="2816820"/>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/analytics</a:t>
            </a:r>
            <a:endParaRPr lang="en-US" sz="1200" dirty="0"/>
          </a:p>
        </p:txBody>
      </p:sp>
      <p:sp>
        <p:nvSpPr>
          <p:cNvPr id="26" name="Text 24"/>
          <p:cNvSpPr/>
          <p:nvPr/>
        </p:nvSpPr>
        <p:spPr>
          <a:xfrm>
            <a:off x="8280400" y="3182541"/>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Operations &amp; Backup</a:t>
            </a:r>
            <a:endParaRPr lang="en-US" sz="1500" dirty="0"/>
          </a:p>
        </p:txBody>
      </p:sp>
      <p:sp>
        <p:nvSpPr>
          <p:cNvPr id="27" name="Text 25"/>
          <p:cNvSpPr/>
          <p:nvPr/>
        </p:nvSpPr>
        <p:spPr>
          <a:xfrm>
            <a:off x="8280400" y="347464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/operations</a:t>
            </a:r>
            <a:endParaRPr lang="en-US" sz="1200" dirty="0"/>
          </a:p>
        </p:txBody>
      </p:sp>
      <p:sp>
        <p:nvSpPr>
          <p:cNvPr id="28" name="Text 26"/>
          <p:cNvSpPr/>
          <p:nvPr/>
        </p:nvSpPr>
        <p:spPr>
          <a:xfrm>
            <a:off x="8280400" y="3840361"/>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User Management</a:t>
            </a:r>
            <a:endParaRPr lang="en-US" sz="1500" dirty="0"/>
          </a:p>
        </p:txBody>
      </p:sp>
      <p:sp>
        <p:nvSpPr>
          <p:cNvPr id="29" name="Text 27"/>
          <p:cNvSpPr/>
          <p:nvPr/>
        </p:nvSpPr>
        <p:spPr>
          <a:xfrm>
            <a:off x="8280400" y="413246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/users</a:t>
            </a:r>
            <a:endParaRPr lang="en-US" sz="1200" dirty="0"/>
          </a:p>
        </p:txBody>
      </p:sp>
      <p:sp>
        <p:nvSpPr>
          <p:cNvPr id="30" name="Text 2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31"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NEW PATIENT INTAKE</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Registering a resident without duplicates</a:t>
            </a:r>
            <a:endParaRPr lang="en-US" sz="3600" dirty="0"/>
          </a:p>
        </p:txBody>
      </p:sp>
      <p:sp>
        <p:nvSpPr>
          <p:cNvPr id="4" name="Text 2"/>
          <p:cNvSpPr/>
          <p:nvPr/>
        </p:nvSpPr>
        <p:spPr>
          <a:xfrm>
            <a:off x="829965" y="1905000"/>
            <a:ext cx="4553565" cy="1625600"/>
          </a:xfrm>
          <a:prstGeom prst="rect">
            <a:avLst/>
          </a:prstGeom>
          <a:noFill/>
          <a:ln/>
        </p:spPr>
        <p:txBody>
          <a:bodyPr wrap="square" lIns="0" tIns="0" rIns="0" bIns="0" rtlCol="0" anchor="t">
            <a:normAutofit/>
          </a:bodyPr>
          <a:lstStyle/>
          <a:p>
            <a:pPr algn="l" marL="236835" indent="-236835">
              <a:lnSpc>
                <a:spcPts val="2100"/>
              </a:lnSpc>
              <a:buSzPct val="100000"/>
              <a:buFontTx/>
              <a:buAutoNum type="arabicPeriod" startAt="1"/>
            </a:pPr>
            <a:r>
              <a:rPr lang="en-US" sz="1500" dirty="0">
                <a:solidFill>
                  <a:srgbClr val="10272B"/>
                </a:solidFill>
                <a:latin typeface="Public Sans" pitchFamily="34" charset="0"/>
                <a:ea typeface="Public Sans" pitchFamily="34" charset="-122"/>
                <a:cs typeface="Public Sans" pitchFamily="34" charset="-120"/>
              </a:rPr>
              <a:t>A BHW or nurse opens New Patient Intake.</a:t>
            </a:r>
            <a:endParaRPr lang="en-US" sz="1500" dirty="0"/>
          </a:p>
          <a:p>
            <a:pPr algn="l" marL="236835" indent="-236835">
              <a:lnSpc>
                <a:spcPts val="2100"/>
              </a:lnSpc>
              <a:buSzPct val="100000"/>
              <a:buFontTx/>
              <a:buAutoNum type="arabicPeriod" startAt="1"/>
            </a:pPr>
            <a:r>
              <a:rPr lang="en-US" sz="1500" dirty="0">
                <a:solidFill>
                  <a:srgbClr val="10272B"/>
                </a:solidFill>
                <a:latin typeface="Public Sans" pitchFamily="34" charset="0"/>
                <a:ea typeface="Public Sans" pitchFamily="34" charset="-122"/>
                <a:cs typeface="Public Sans" pitchFamily="34" charset="-120"/>
              </a:rPr>
              <a:t>Enters name, birth date, sex, barangay, purok and PhilHealth ID.</a:t>
            </a:r>
            <a:endParaRPr lang="en-US" sz="1500" dirty="0"/>
          </a:p>
          <a:p>
            <a:pPr algn="l" marL="236835" indent="-236835">
              <a:lnSpc>
                <a:spcPts val="2100"/>
              </a:lnSpc>
              <a:buSzPct val="100000"/>
              <a:buFontTx/>
              <a:buAutoNum type="arabicPeriod" startAt="1"/>
            </a:pPr>
            <a:r>
              <a:rPr lang="en-US" sz="1500" dirty="0">
                <a:solidFill>
                  <a:srgbClr val="10272B"/>
                </a:solidFill>
                <a:latin typeface="Public Sans" pitchFamily="34" charset="0"/>
                <a:ea typeface="Public Sans" pitchFamily="34" charset="-122"/>
                <a:cs typeface="Public Sans" pitchFamily="34" charset="-120"/>
              </a:rPr>
              <a:t>The system builds a match key and warns if it already exists.</a:t>
            </a:r>
            <a:endParaRPr lang="en-US" sz="1500" dirty="0"/>
          </a:p>
          <a:p>
            <a:pPr algn="l" marL="236835" indent="-236835">
              <a:lnSpc>
                <a:spcPts val="2100"/>
              </a:lnSpc>
              <a:buSzPct val="100000"/>
              <a:buFontTx/>
              <a:buAutoNum type="arabicPeriod" startAt="1"/>
            </a:pPr>
            <a:r>
              <a:rPr lang="en-US" sz="1500" dirty="0">
                <a:solidFill>
                  <a:srgbClr val="10272B"/>
                </a:solidFill>
                <a:latin typeface="Public Sans" pitchFamily="34" charset="0"/>
                <a:ea typeface="Public Sans" pitchFamily="34" charset="-122"/>
                <a:cs typeface="Public Sans" pitchFamily="34" charset="-120"/>
              </a:rPr>
              <a:t>Saving issues the Unique Patient Identifier.</a:t>
            </a:r>
            <a:endParaRPr lang="en-US" sz="1500" dirty="0"/>
          </a:p>
        </p:txBody>
      </p:sp>
      <p:sp>
        <p:nvSpPr>
          <p:cNvPr id="5" name="Shape 3"/>
          <p:cNvSpPr/>
          <p:nvPr/>
        </p:nvSpPr>
        <p:spPr>
          <a:xfrm>
            <a:off x="812800" y="4445000"/>
            <a:ext cx="4445000" cy="1026120"/>
          </a:xfrm>
          <a:prstGeom prst="roundRect">
            <a:avLst>
              <a:gd name="adj" fmla="val 12377"/>
            </a:avLst>
          </a:prstGeom>
          <a:solidFill>
            <a:srgbClr val="10272B"/>
          </a:solidFill>
          <a:ln/>
        </p:spPr>
      </p:sp>
      <p:sp>
        <p:nvSpPr>
          <p:cNvPr id="6" name="Text 4"/>
          <p:cNvSpPr/>
          <p:nvPr/>
        </p:nvSpPr>
        <p:spPr>
          <a:xfrm>
            <a:off x="1016000" y="4648200"/>
            <a:ext cx="415975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08A50"/>
                </a:solidFill>
                <a:latin typeface="JetBrains Mono" pitchFamily="49" charset="0"/>
                <a:ea typeface="JetBrains Mono" pitchFamily="49" charset="-122"/>
                <a:cs typeface="JetBrains Mono" pitchFamily="49" charset="-120"/>
              </a:rPr>
              <a:t>BHS-TAB-2026-0042</a:t>
            </a:r>
            <a:endParaRPr lang="en-US" sz="2000" dirty="0"/>
          </a:p>
        </p:txBody>
      </p:sp>
      <p:sp>
        <p:nvSpPr>
          <p:cNvPr id="7" name="Text 5"/>
          <p:cNvSpPr/>
          <p:nvPr/>
        </p:nvSpPr>
        <p:spPr>
          <a:xfrm>
            <a:off x="1016000" y="5054600"/>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4C1"/>
                </a:solidFill>
                <a:latin typeface="Public Sans" pitchFamily="34" charset="0"/>
                <a:ea typeface="Public Sans" pitchFamily="34" charset="-122"/>
                <a:cs typeface="Public Sans" pitchFamily="34" charset="-120"/>
              </a:rPr>
              <a:t>Example UPI: station · year · sequence</a:t>
            </a:r>
            <a:endParaRPr lang="en-US" sz="1200" dirty="0"/>
          </a:p>
        </p:txBody>
      </p:sp>
      <p:sp>
        <p:nvSpPr>
          <p:cNvPr id="8" name="Text 6"/>
          <p:cNvSpPr/>
          <p:nvPr/>
        </p:nvSpPr>
        <p:spPr>
          <a:xfrm>
            <a:off x="5845175" y="1908175"/>
            <a:ext cx="4057650" cy="476250"/>
          </a:xfrm>
          <a:prstGeom prst="roundRect">
            <a:avLst>
              <a:gd name="adj" fmla="val 50000"/>
            </a:avLst>
          </a:prstGeom>
          <a:solidFill>
            <a:srgbClr val="FBFAF6"/>
          </a:solidFill>
          <a:ln w="6350">
            <a:solidFill>
              <a:srgbClr val="DDD6C6"/>
            </a:solidFill>
            <a:prstDash val="solid"/>
          </a:ln>
        </p:spPr>
        <p:txBody>
          <a:bodyPr wrap="square" lIns="136631" tIns="35031" rIns="27284" bIns="9631" rtlCol="0" anchor="t">
            <a:normAutofit/>
          </a:bodyPr>
          <a:lstStyle/>
          <a:p>
            <a:pPr algn="l" indent="0" marL="0">
              <a:lnSpc>
                <a:spcPts val="2100"/>
              </a:lnSpc>
              <a:buNone/>
            </a:pPr>
            <a:r>
              <a:rPr lang="en-US" sz="1500" dirty="0">
                <a:solidFill>
                  <a:srgbClr val="10272B"/>
                </a:solidFill>
                <a:latin typeface="Public Sans" pitchFamily="34" charset="0"/>
                <a:ea typeface="Public Sans" pitchFamily="34" charset="-122"/>
                <a:cs typeface="Public Sans" pitchFamily="34" charset="-120"/>
              </a:rPr>
              <a:t>Dela Cruz, Juan · 1990-05-14</a:t>
            </a:r>
            <a:endParaRPr lang="en-US" sz="1500" dirty="0"/>
          </a:p>
        </p:txBody>
      </p:sp>
      <p:sp>
        <p:nvSpPr>
          <p:cNvPr id="9" name="Text 7"/>
          <p:cNvSpPr/>
          <p:nvPr/>
        </p:nvSpPr>
        <p:spPr>
          <a:xfrm>
            <a:off x="5845175" y="2479675"/>
            <a:ext cx="4057650" cy="476250"/>
          </a:xfrm>
          <a:prstGeom prst="roundRect">
            <a:avLst>
              <a:gd name="adj" fmla="val 50000"/>
            </a:avLst>
          </a:prstGeom>
          <a:solidFill>
            <a:srgbClr val="FBFAF6"/>
          </a:solidFill>
          <a:ln w="6350">
            <a:solidFill>
              <a:srgbClr val="DDD6C6"/>
            </a:solidFill>
            <a:prstDash val="solid"/>
          </a:ln>
        </p:spPr>
        <p:txBody>
          <a:bodyPr wrap="square" lIns="136631" tIns="35031" rIns="27284" bIns="9631" rtlCol="0" anchor="t">
            <a:normAutofit/>
          </a:bodyPr>
          <a:lstStyle/>
          <a:p>
            <a:pPr algn="l" indent="0" marL="0">
              <a:lnSpc>
                <a:spcPts val="2100"/>
              </a:lnSpc>
              <a:buNone/>
            </a:pPr>
            <a:r>
              <a:rPr lang="en-US" sz="1500" dirty="0">
                <a:solidFill>
                  <a:srgbClr val="10272B"/>
                </a:solidFill>
                <a:latin typeface="Public Sans" pitchFamily="34" charset="0"/>
                <a:ea typeface="Public Sans" pitchFamily="34" charset="-122"/>
                <a:cs typeface="Public Sans" pitchFamily="34" charset="-120"/>
              </a:rPr>
              <a:t>De la Cruz, Juan · 1990-05-14</a:t>
            </a:r>
            <a:endParaRPr lang="en-US" sz="1500" dirty="0"/>
          </a:p>
        </p:txBody>
      </p:sp>
      <p:pic>
        <p:nvPicPr>
          <p:cNvPr id="10" name="Image 0" descr="connector">    </p:cNvPr>
          <p:cNvPicPr>
            <a:picLocks noChangeAspect="1"/>
          </p:cNvPicPr>
          <p:nvPr/>
        </p:nvPicPr>
        <p:blipFill>
          <a:blip r:embed="rId1"/>
          <a:srcRect l="0" r="0" t="0" b="0"/>
          <a:stretch/>
        </p:blipFill>
        <p:spPr>
          <a:xfrm>
            <a:off x="7810500" y="2895600"/>
            <a:ext cx="127000" cy="596900"/>
          </a:xfrm>
          <a:prstGeom prst="rect">
            <a:avLst/>
          </a:prstGeom>
        </p:spPr>
      </p:pic>
      <p:sp>
        <p:nvSpPr>
          <p:cNvPr id="11" name="Text 8"/>
          <p:cNvSpPr/>
          <p:nvPr/>
        </p:nvSpPr>
        <p:spPr>
          <a:xfrm>
            <a:off x="5842000" y="3454400"/>
            <a:ext cx="4064000" cy="573980"/>
          </a:xfrm>
          <a:prstGeom prst="roundRect">
            <a:avLst>
              <a:gd name="adj" fmla="val 17701"/>
            </a:avLst>
          </a:prstGeom>
          <a:solidFill>
            <a:srgbClr val="2A8C8C"/>
          </a:solidFill>
          <a:ln/>
        </p:spPr>
        <p:txBody>
          <a:bodyPr wrap="square" lIns="40092" tIns="97242" rIns="40092" bIns="71842" rtlCol="0" anchor="t">
            <a:normAutofit/>
          </a:bodyPr>
          <a:lstStyle/>
          <a:p>
            <a:pPr algn="ctr" indent="0" marL="0">
              <a:lnSpc>
                <a:spcPts val="2520"/>
              </a:lnSpc>
              <a:buNone/>
            </a:pPr>
            <a:r>
              <a:rPr lang="en-US" sz="1800" b="1" dirty="0">
                <a:solidFill>
                  <a:srgbClr val="F5F2EA"/>
                </a:solidFill>
                <a:latin typeface="JetBrains Mono" pitchFamily="49" charset="0"/>
                <a:ea typeface="JetBrains Mono" pitchFamily="49" charset="-122"/>
                <a:cs typeface="JetBrains Mono" pitchFamily="49" charset="-120"/>
              </a:rPr>
              <a:t>D426-JUA-1990-05-14</a:t>
            </a:r>
            <a:endParaRPr lang="en-US" sz="1800" dirty="0"/>
          </a:p>
        </p:txBody>
      </p:sp>
      <p:sp>
        <p:nvSpPr>
          <p:cNvPr id="12" name="Text 9"/>
          <p:cNvSpPr/>
          <p:nvPr/>
        </p:nvSpPr>
        <p:spPr>
          <a:xfrm>
            <a:off x="10109200" y="3429000"/>
            <a:ext cx="1320800" cy="81756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6869"/>
                </a:solidFill>
                <a:latin typeface="Public Sans" pitchFamily="34" charset="0"/>
                <a:ea typeface="Public Sans" pitchFamily="34" charset="-122"/>
                <a:cs typeface="Public Sans" pitchFamily="34" charset="-120"/>
              </a:rPr>
              <a:t>Soundex of surname + 3 letters + birth date</a:t>
            </a:r>
            <a:endParaRPr lang="en-US" sz="1200" dirty="0"/>
          </a:p>
        </p:txBody>
      </p:sp>
      <p:pic>
        <p:nvPicPr>
          <p:cNvPr id="13" name="Image 1" descr="connector">    </p:cNvPr>
          <p:cNvPicPr>
            <a:picLocks noChangeAspect="1"/>
          </p:cNvPicPr>
          <p:nvPr/>
        </p:nvPicPr>
        <p:blipFill>
          <a:blip r:embed="rId2"/>
          <a:srcRect l="0" r="0" t="0" b="0"/>
          <a:stretch/>
        </p:blipFill>
        <p:spPr>
          <a:xfrm>
            <a:off x="7810500" y="3975100"/>
            <a:ext cx="127000" cy="533400"/>
          </a:xfrm>
          <a:prstGeom prst="rect">
            <a:avLst/>
          </a:prstGeom>
        </p:spPr>
      </p:pic>
      <p:sp>
        <p:nvSpPr>
          <p:cNvPr id="14" name="Shape 10"/>
          <p:cNvSpPr/>
          <p:nvPr/>
        </p:nvSpPr>
        <p:spPr>
          <a:xfrm>
            <a:off x="5848350" y="4476750"/>
            <a:ext cx="4051300" cy="622300"/>
          </a:xfrm>
          <a:prstGeom prst="roundRect">
            <a:avLst>
              <a:gd name="adj" fmla="val 15306"/>
            </a:avLst>
          </a:prstGeom>
          <a:solidFill>
            <a:srgbClr val="F6D2BC"/>
          </a:solidFill>
          <a:ln w="12700">
            <a:solidFill>
              <a:srgbClr val="E2703A"/>
            </a:solidFill>
            <a:prstDash val="solid"/>
          </a:ln>
        </p:spPr>
      </p:sp>
      <p:pic>
        <p:nvPicPr>
          <p:cNvPr id="15" name="Image 2" descr="Warning">    </p:cNvPr>
          <p:cNvPicPr>
            <a:picLocks noChangeAspect="1"/>
          </p:cNvPicPr>
          <p:nvPr/>
        </p:nvPicPr>
        <p:blipFill>
          <a:blip r:embed="rId3"/>
          <a:srcRect l="0" r="0" t="0" b="0"/>
          <a:stretch/>
        </p:blipFill>
        <p:spPr>
          <a:xfrm>
            <a:off x="6057900" y="4635500"/>
            <a:ext cx="304800" cy="304800"/>
          </a:xfrm>
          <a:prstGeom prst="rect">
            <a:avLst/>
          </a:prstGeom>
        </p:spPr>
      </p:pic>
      <p:sp>
        <p:nvSpPr>
          <p:cNvPr id="16" name="Text 11"/>
          <p:cNvSpPr/>
          <p:nvPr/>
        </p:nvSpPr>
        <p:spPr>
          <a:xfrm>
            <a:off x="6489700" y="4654550"/>
            <a:ext cx="26425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Possible duplicate found</a:t>
            </a:r>
            <a:endParaRPr lang="en-US" sz="1500" dirty="0"/>
          </a:p>
        </p:txBody>
      </p:sp>
      <p:sp>
        <p:nvSpPr>
          <p:cNvPr id="17"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18"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NURSE WORKFLOW · VITALS &amp; TRIAGE</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Seven readings in, one triage decision out</a:t>
            </a:r>
            <a:endParaRPr lang="en-US" sz="3600" dirty="0"/>
          </a:p>
        </p:txBody>
      </p:sp>
      <p:sp>
        <p:nvSpPr>
          <p:cNvPr id="4" name="Shape 2"/>
          <p:cNvSpPr/>
          <p:nvPr/>
        </p:nvSpPr>
        <p:spPr>
          <a:xfrm>
            <a:off x="815975" y="1908175"/>
            <a:ext cx="1568450" cy="1179711"/>
          </a:xfrm>
          <a:prstGeom prst="roundRect">
            <a:avLst>
              <a:gd name="adj" fmla="val 8343"/>
            </a:avLst>
          </a:prstGeom>
          <a:solidFill>
            <a:srgbClr val="FBFAF6"/>
          </a:solidFill>
          <a:ln w="6350">
            <a:solidFill>
              <a:srgbClr val="DDD6C6"/>
            </a:solidFill>
            <a:prstDash val="solid"/>
          </a:ln>
        </p:spPr>
      </p:sp>
      <p:sp>
        <p:nvSpPr>
          <p:cNvPr id="5" name="Text 3"/>
          <p:cNvSpPr/>
          <p:nvPr/>
        </p:nvSpPr>
        <p:spPr>
          <a:xfrm>
            <a:off x="971550" y="2063750"/>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Systolic BP</a:t>
            </a:r>
            <a:endParaRPr lang="en-US" sz="1200" dirty="0"/>
          </a:p>
        </p:txBody>
      </p:sp>
      <p:sp>
        <p:nvSpPr>
          <p:cNvPr id="6" name="Text 4"/>
          <p:cNvSpPr/>
          <p:nvPr/>
        </p:nvSpPr>
        <p:spPr>
          <a:xfrm>
            <a:off x="971550" y="2302470"/>
            <a:ext cx="1308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72B"/>
                </a:solidFill>
                <a:latin typeface="Rubik" pitchFamily="34" charset="0"/>
                <a:ea typeface="Rubik" pitchFamily="34" charset="-122"/>
                <a:cs typeface="Rubik" pitchFamily="34" charset="-120"/>
              </a:rPr>
              <a:t>150</a:t>
            </a:r>
            <a:endParaRPr lang="en-US" sz="2200" dirty="0"/>
          </a:p>
        </p:txBody>
      </p:sp>
      <p:sp>
        <p:nvSpPr>
          <p:cNvPr id="7" name="Text 5"/>
          <p:cNvSpPr/>
          <p:nvPr/>
        </p:nvSpPr>
        <p:spPr>
          <a:xfrm>
            <a:off x="971550" y="2718991"/>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40–300 mmHg</a:t>
            </a:r>
            <a:endParaRPr lang="en-US" sz="1200" dirty="0"/>
          </a:p>
        </p:txBody>
      </p:sp>
      <p:sp>
        <p:nvSpPr>
          <p:cNvPr id="8" name="Shape 6"/>
          <p:cNvSpPr/>
          <p:nvPr/>
        </p:nvSpPr>
        <p:spPr>
          <a:xfrm>
            <a:off x="2492375" y="1908175"/>
            <a:ext cx="1568450" cy="1179711"/>
          </a:xfrm>
          <a:prstGeom prst="roundRect">
            <a:avLst>
              <a:gd name="adj" fmla="val 8343"/>
            </a:avLst>
          </a:prstGeom>
          <a:solidFill>
            <a:srgbClr val="FBFAF6"/>
          </a:solidFill>
          <a:ln w="6350">
            <a:solidFill>
              <a:srgbClr val="DDD6C6"/>
            </a:solidFill>
            <a:prstDash val="solid"/>
          </a:ln>
        </p:spPr>
      </p:sp>
      <p:sp>
        <p:nvSpPr>
          <p:cNvPr id="9" name="Text 7"/>
          <p:cNvSpPr/>
          <p:nvPr/>
        </p:nvSpPr>
        <p:spPr>
          <a:xfrm>
            <a:off x="2647950" y="2063750"/>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Diastolic BP</a:t>
            </a:r>
            <a:endParaRPr lang="en-US" sz="1200" dirty="0"/>
          </a:p>
        </p:txBody>
      </p:sp>
      <p:sp>
        <p:nvSpPr>
          <p:cNvPr id="10" name="Text 8"/>
          <p:cNvSpPr/>
          <p:nvPr/>
        </p:nvSpPr>
        <p:spPr>
          <a:xfrm>
            <a:off x="2647950" y="2302470"/>
            <a:ext cx="1308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72B"/>
                </a:solidFill>
                <a:latin typeface="Rubik" pitchFamily="34" charset="0"/>
                <a:ea typeface="Rubik" pitchFamily="34" charset="-122"/>
                <a:cs typeface="Rubik" pitchFamily="34" charset="-120"/>
              </a:rPr>
              <a:t>95</a:t>
            </a:r>
            <a:endParaRPr lang="en-US" sz="2200" dirty="0"/>
          </a:p>
        </p:txBody>
      </p:sp>
      <p:sp>
        <p:nvSpPr>
          <p:cNvPr id="11" name="Text 9"/>
          <p:cNvSpPr/>
          <p:nvPr/>
        </p:nvSpPr>
        <p:spPr>
          <a:xfrm>
            <a:off x="2647950" y="2718991"/>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30–200 mmHg</a:t>
            </a:r>
            <a:endParaRPr lang="en-US" sz="1200" dirty="0"/>
          </a:p>
        </p:txBody>
      </p:sp>
      <p:sp>
        <p:nvSpPr>
          <p:cNvPr id="12" name="Shape 10"/>
          <p:cNvSpPr/>
          <p:nvPr/>
        </p:nvSpPr>
        <p:spPr>
          <a:xfrm>
            <a:off x="4168775" y="1908175"/>
            <a:ext cx="1568450" cy="1179711"/>
          </a:xfrm>
          <a:prstGeom prst="roundRect">
            <a:avLst>
              <a:gd name="adj" fmla="val 8343"/>
            </a:avLst>
          </a:prstGeom>
          <a:solidFill>
            <a:srgbClr val="FBFAF6"/>
          </a:solidFill>
          <a:ln w="6350">
            <a:solidFill>
              <a:srgbClr val="DDD6C6"/>
            </a:solidFill>
            <a:prstDash val="solid"/>
          </a:ln>
        </p:spPr>
      </p:sp>
      <p:sp>
        <p:nvSpPr>
          <p:cNvPr id="13" name="Text 11"/>
          <p:cNvSpPr/>
          <p:nvPr/>
        </p:nvSpPr>
        <p:spPr>
          <a:xfrm>
            <a:off x="4324350" y="2063750"/>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Heart rate</a:t>
            </a:r>
            <a:endParaRPr lang="en-US" sz="1200" dirty="0"/>
          </a:p>
        </p:txBody>
      </p:sp>
      <p:sp>
        <p:nvSpPr>
          <p:cNvPr id="14" name="Text 12"/>
          <p:cNvSpPr/>
          <p:nvPr/>
        </p:nvSpPr>
        <p:spPr>
          <a:xfrm>
            <a:off x="4324350" y="2302470"/>
            <a:ext cx="1308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72B"/>
                </a:solidFill>
                <a:latin typeface="Rubik" pitchFamily="34" charset="0"/>
                <a:ea typeface="Rubik" pitchFamily="34" charset="-122"/>
                <a:cs typeface="Rubik" pitchFamily="34" charset="-120"/>
              </a:rPr>
              <a:t>88</a:t>
            </a:r>
            <a:endParaRPr lang="en-US" sz="2200" dirty="0"/>
          </a:p>
        </p:txBody>
      </p:sp>
      <p:sp>
        <p:nvSpPr>
          <p:cNvPr id="15" name="Text 13"/>
          <p:cNvSpPr/>
          <p:nvPr/>
        </p:nvSpPr>
        <p:spPr>
          <a:xfrm>
            <a:off x="4324350" y="2718991"/>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30–250 bpm</a:t>
            </a:r>
            <a:endParaRPr lang="en-US" sz="1200" dirty="0"/>
          </a:p>
        </p:txBody>
      </p:sp>
      <p:sp>
        <p:nvSpPr>
          <p:cNvPr id="16" name="Shape 14"/>
          <p:cNvSpPr/>
          <p:nvPr/>
        </p:nvSpPr>
        <p:spPr>
          <a:xfrm>
            <a:off x="5845175" y="1908175"/>
            <a:ext cx="1568450" cy="1179711"/>
          </a:xfrm>
          <a:prstGeom prst="roundRect">
            <a:avLst>
              <a:gd name="adj" fmla="val 8343"/>
            </a:avLst>
          </a:prstGeom>
          <a:solidFill>
            <a:srgbClr val="FBFAF6"/>
          </a:solidFill>
          <a:ln w="6350">
            <a:solidFill>
              <a:srgbClr val="DDD6C6"/>
            </a:solidFill>
            <a:prstDash val="solid"/>
          </a:ln>
        </p:spPr>
      </p:sp>
      <p:sp>
        <p:nvSpPr>
          <p:cNvPr id="17" name="Text 15"/>
          <p:cNvSpPr/>
          <p:nvPr/>
        </p:nvSpPr>
        <p:spPr>
          <a:xfrm>
            <a:off x="6000750" y="2063750"/>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Resp. rate</a:t>
            </a:r>
            <a:endParaRPr lang="en-US" sz="1200" dirty="0"/>
          </a:p>
        </p:txBody>
      </p:sp>
      <p:sp>
        <p:nvSpPr>
          <p:cNvPr id="18" name="Text 16"/>
          <p:cNvSpPr/>
          <p:nvPr/>
        </p:nvSpPr>
        <p:spPr>
          <a:xfrm>
            <a:off x="6000750" y="2302470"/>
            <a:ext cx="1308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72B"/>
                </a:solidFill>
                <a:latin typeface="Rubik" pitchFamily="34" charset="0"/>
                <a:ea typeface="Rubik" pitchFamily="34" charset="-122"/>
                <a:cs typeface="Rubik" pitchFamily="34" charset="-120"/>
              </a:rPr>
              <a:t>18</a:t>
            </a:r>
            <a:endParaRPr lang="en-US" sz="2200" dirty="0"/>
          </a:p>
        </p:txBody>
      </p:sp>
      <p:sp>
        <p:nvSpPr>
          <p:cNvPr id="19" name="Text 17"/>
          <p:cNvSpPr/>
          <p:nvPr/>
        </p:nvSpPr>
        <p:spPr>
          <a:xfrm>
            <a:off x="6000750" y="2718991"/>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8–80 /min</a:t>
            </a:r>
            <a:endParaRPr lang="en-US" sz="1200" dirty="0"/>
          </a:p>
        </p:txBody>
      </p:sp>
      <p:sp>
        <p:nvSpPr>
          <p:cNvPr id="20" name="Shape 18"/>
          <p:cNvSpPr/>
          <p:nvPr/>
        </p:nvSpPr>
        <p:spPr>
          <a:xfrm>
            <a:off x="815975" y="3195836"/>
            <a:ext cx="1568450" cy="1179711"/>
          </a:xfrm>
          <a:prstGeom prst="roundRect">
            <a:avLst>
              <a:gd name="adj" fmla="val 8343"/>
            </a:avLst>
          </a:prstGeom>
          <a:solidFill>
            <a:srgbClr val="FBFAF6"/>
          </a:solidFill>
          <a:ln w="6350">
            <a:solidFill>
              <a:srgbClr val="DDD6C6"/>
            </a:solidFill>
            <a:prstDash val="solid"/>
          </a:ln>
        </p:spPr>
      </p:sp>
      <p:sp>
        <p:nvSpPr>
          <p:cNvPr id="21" name="Text 19"/>
          <p:cNvSpPr/>
          <p:nvPr/>
        </p:nvSpPr>
        <p:spPr>
          <a:xfrm>
            <a:off x="971550" y="3351411"/>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Temperature</a:t>
            </a:r>
            <a:endParaRPr lang="en-US" sz="1200" dirty="0"/>
          </a:p>
        </p:txBody>
      </p:sp>
      <p:sp>
        <p:nvSpPr>
          <p:cNvPr id="22" name="Text 20"/>
          <p:cNvSpPr/>
          <p:nvPr/>
        </p:nvSpPr>
        <p:spPr>
          <a:xfrm>
            <a:off x="971550" y="3590131"/>
            <a:ext cx="1308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72B"/>
                </a:solidFill>
                <a:latin typeface="Rubik" pitchFamily="34" charset="0"/>
                <a:ea typeface="Rubik" pitchFamily="34" charset="-122"/>
                <a:cs typeface="Rubik" pitchFamily="34" charset="-120"/>
              </a:rPr>
              <a:t>38.4</a:t>
            </a:r>
            <a:endParaRPr lang="en-US" sz="2200" dirty="0"/>
          </a:p>
        </p:txBody>
      </p:sp>
      <p:sp>
        <p:nvSpPr>
          <p:cNvPr id="23" name="Text 21"/>
          <p:cNvSpPr/>
          <p:nvPr/>
        </p:nvSpPr>
        <p:spPr>
          <a:xfrm>
            <a:off x="971550" y="4006652"/>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30–45 °C</a:t>
            </a:r>
            <a:endParaRPr lang="en-US" sz="1200" dirty="0"/>
          </a:p>
        </p:txBody>
      </p:sp>
      <p:sp>
        <p:nvSpPr>
          <p:cNvPr id="24" name="Shape 22"/>
          <p:cNvSpPr/>
          <p:nvPr/>
        </p:nvSpPr>
        <p:spPr>
          <a:xfrm>
            <a:off x="2492375" y="3195836"/>
            <a:ext cx="1568450" cy="1179711"/>
          </a:xfrm>
          <a:prstGeom prst="roundRect">
            <a:avLst>
              <a:gd name="adj" fmla="val 8343"/>
            </a:avLst>
          </a:prstGeom>
          <a:solidFill>
            <a:srgbClr val="FBFAF6"/>
          </a:solidFill>
          <a:ln w="6350">
            <a:solidFill>
              <a:srgbClr val="DDD6C6"/>
            </a:solidFill>
            <a:prstDash val="solid"/>
          </a:ln>
        </p:spPr>
      </p:sp>
      <p:sp>
        <p:nvSpPr>
          <p:cNvPr id="25" name="Text 23"/>
          <p:cNvSpPr/>
          <p:nvPr/>
        </p:nvSpPr>
        <p:spPr>
          <a:xfrm>
            <a:off x="2647950" y="3351411"/>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Weight</a:t>
            </a:r>
            <a:endParaRPr lang="en-US" sz="1200" dirty="0"/>
          </a:p>
        </p:txBody>
      </p:sp>
      <p:sp>
        <p:nvSpPr>
          <p:cNvPr id="26" name="Text 24"/>
          <p:cNvSpPr/>
          <p:nvPr/>
        </p:nvSpPr>
        <p:spPr>
          <a:xfrm>
            <a:off x="2647950" y="3590131"/>
            <a:ext cx="1308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72B"/>
                </a:solidFill>
                <a:latin typeface="Rubik" pitchFamily="34" charset="0"/>
                <a:ea typeface="Rubik" pitchFamily="34" charset="-122"/>
                <a:cs typeface="Rubik" pitchFamily="34" charset="-120"/>
              </a:rPr>
              <a:t>68</a:t>
            </a:r>
            <a:endParaRPr lang="en-US" sz="2200" dirty="0"/>
          </a:p>
        </p:txBody>
      </p:sp>
      <p:sp>
        <p:nvSpPr>
          <p:cNvPr id="27" name="Text 25"/>
          <p:cNvSpPr/>
          <p:nvPr/>
        </p:nvSpPr>
        <p:spPr>
          <a:xfrm>
            <a:off x="2647950" y="4006652"/>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0.5–300 kg</a:t>
            </a:r>
            <a:endParaRPr lang="en-US" sz="1200" dirty="0"/>
          </a:p>
        </p:txBody>
      </p:sp>
      <p:sp>
        <p:nvSpPr>
          <p:cNvPr id="28" name="Shape 26"/>
          <p:cNvSpPr/>
          <p:nvPr/>
        </p:nvSpPr>
        <p:spPr>
          <a:xfrm>
            <a:off x="4168775" y="3195836"/>
            <a:ext cx="1568450" cy="1179711"/>
          </a:xfrm>
          <a:prstGeom prst="roundRect">
            <a:avLst>
              <a:gd name="adj" fmla="val 8343"/>
            </a:avLst>
          </a:prstGeom>
          <a:solidFill>
            <a:srgbClr val="FBFAF6"/>
          </a:solidFill>
          <a:ln w="6350">
            <a:solidFill>
              <a:srgbClr val="DDD6C6"/>
            </a:solidFill>
            <a:prstDash val="solid"/>
          </a:ln>
        </p:spPr>
      </p:sp>
      <p:sp>
        <p:nvSpPr>
          <p:cNvPr id="29" name="Text 27"/>
          <p:cNvSpPr/>
          <p:nvPr/>
        </p:nvSpPr>
        <p:spPr>
          <a:xfrm>
            <a:off x="4324350" y="3351411"/>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Height</a:t>
            </a:r>
            <a:endParaRPr lang="en-US" sz="1200" dirty="0"/>
          </a:p>
        </p:txBody>
      </p:sp>
      <p:sp>
        <p:nvSpPr>
          <p:cNvPr id="30" name="Text 28"/>
          <p:cNvSpPr/>
          <p:nvPr/>
        </p:nvSpPr>
        <p:spPr>
          <a:xfrm>
            <a:off x="4324350" y="3590131"/>
            <a:ext cx="1308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72B"/>
                </a:solidFill>
                <a:latin typeface="Rubik" pitchFamily="34" charset="0"/>
                <a:ea typeface="Rubik" pitchFamily="34" charset="-122"/>
                <a:cs typeface="Rubik" pitchFamily="34" charset="-120"/>
              </a:rPr>
              <a:t>160</a:t>
            </a:r>
            <a:endParaRPr lang="en-US" sz="2200" dirty="0"/>
          </a:p>
        </p:txBody>
      </p:sp>
      <p:sp>
        <p:nvSpPr>
          <p:cNvPr id="31" name="Text 29"/>
          <p:cNvSpPr/>
          <p:nvPr/>
        </p:nvSpPr>
        <p:spPr>
          <a:xfrm>
            <a:off x="4324350" y="4006652"/>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30–250 cm</a:t>
            </a:r>
            <a:endParaRPr lang="en-US" sz="1200" dirty="0"/>
          </a:p>
        </p:txBody>
      </p:sp>
      <p:sp>
        <p:nvSpPr>
          <p:cNvPr id="32" name="Shape 30"/>
          <p:cNvSpPr/>
          <p:nvPr/>
        </p:nvSpPr>
        <p:spPr>
          <a:xfrm>
            <a:off x="5845175" y="3195836"/>
            <a:ext cx="1568450" cy="1179711"/>
          </a:xfrm>
          <a:prstGeom prst="roundRect">
            <a:avLst>
              <a:gd name="adj" fmla="val 8343"/>
            </a:avLst>
          </a:prstGeom>
          <a:solidFill>
            <a:srgbClr val="E9E4D8"/>
          </a:solidFill>
          <a:ln w="6350">
            <a:solidFill>
              <a:srgbClr val="5A6869"/>
            </a:solidFill>
            <a:prstDash val="dash"/>
          </a:ln>
        </p:spPr>
      </p:sp>
      <p:sp>
        <p:nvSpPr>
          <p:cNvPr id="33" name="Text 31"/>
          <p:cNvSpPr/>
          <p:nvPr/>
        </p:nvSpPr>
        <p:spPr>
          <a:xfrm>
            <a:off x="6000750" y="3351411"/>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BMI (auto)</a:t>
            </a:r>
            <a:endParaRPr lang="en-US" sz="1200" dirty="0"/>
          </a:p>
        </p:txBody>
      </p:sp>
      <p:sp>
        <p:nvSpPr>
          <p:cNvPr id="34" name="Text 32"/>
          <p:cNvSpPr/>
          <p:nvPr/>
        </p:nvSpPr>
        <p:spPr>
          <a:xfrm>
            <a:off x="6000750" y="3590131"/>
            <a:ext cx="1308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72B"/>
                </a:solidFill>
                <a:latin typeface="Rubik" pitchFamily="34" charset="0"/>
                <a:ea typeface="Rubik" pitchFamily="34" charset="-122"/>
                <a:cs typeface="Rubik" pitchFamily="34" charset="-120"/>
              </a:rPr>
              <a:t>26.6</a:t>
            </a:r>
            <a:endParaRPr lang="en-US" sz="2200" dirty="0"/>
          </a:p>
        </p:txBody>
      </p:sp>
      <p:sp>
        <p:nvSpPr>
          <p:cNvPr id="35" name="Text 33"/>
          <p:cNvSpPr/>
          <p:nvPr/>
        </p:nvSpPr>
        <p:spPr>
          <a:xfrm>
            <a:off x="6000750" y="4006652"/>
            <a:ext cx="1308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kg ÷ m²</a:t>
            </a:r>
            <a:endParaRPr lang="en-US" sz="1200" dirty="0"/>
          </a:p>
        </p:txBody>
      </p:sp>
      <p:pic>
        <p:nvPicPr>
          <p:cNvPr id="36" name="Image 0" descr="connector">    </p:cNvPr>
          <p:cNvPicPr>
            <a:picLocks noChangeAspect="1"/>
          </p:cNvPicPr>
          <p:nvPr/>
        </p:nvPicPr>
        <p:blipFill>
          <a:blip r:embed="rId1"/>
          <a:srcRect l="0" r="0" t="0" b="0"/>
          <a:stretch/>
        </p:blipFill>
        <p:spPr>
          <a:xfrm>
            <a:off x="7429500" y="2984500"/>
            <a:ext cx="635000" cy="127000"/>
          </a:xfrm>
          <a:prstGeom prst="rect">
            <a:avLst/>
          </a:prstGeom>
        </p:spPr>
      </p:pic>
      <p:sp>
        <p:nvSpPr>
          <p:cNvPr id="37" name="Shape 34"/>
          <p:cNvSpPr/>
          <p:nvPr/>
        </p:nvSpPr>
        <p:spPr>
          <a:xfrm>
            <a:off x="8077200" y="1905000"/>
            <a:ext cx="3302000" cy="2394843"/>
          </a:xfrm>
          <a:prstGeom prst="roundRect">
            <a:avLst>
              <a:gd name="adj" fmla="val 5303"/>
            </a:avLst>
          </a:prstGeom>
          <a:solidFill>
            <a:srgbClr val="10272B"/>
          </a:solidFill>
          <a:ln/>
        </p:spPr>
      </p:sp>
      <p:sp>
        <p:nvSpPr>
          <p:cNvPr id="38" name="Text 35"/>
          <p:cNvSpPr/>
          <p:nvPr/>
        </p:nvSpPr>
        <p:spPr>
          <a:xfrm>
            <a:off x="8305800" y="2133600"/>
            <a:ext cx="293014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4C1"/>
                </a:solidFill>
                <a:latin typeface="JetBrains Mono" pitchFamily="49" charset="0"/>
                <a:ea typeface="JetBrains Mono" pitchFamily="49" charset="-122"/>
                <a:cs typeface="JetBrains Mono" pitchFamily="49" charset="-120"/>
              </a:rPr>
              <a:t>evaluateVitals()</a:t>
            </a:r>
            <a:endParaRPr lang="en-US" sz="1400" dirty="0"/>
          </a:p>
        </p:txBody>
      </p:sp>
      <p:sp>
        <p:nvSpPr>
          <p:cNvPr id="39" name="Text 36"/>
          <p:cNvSpPr/>
          <p:nvPr/>
        </p:nvSpPr>
        <p:spPr>
          <a:xfrm>
            <a:off x="8305800" y="2484041"/>
            <a:ext cx="2844800" cy="421580"/>
          </a:xfrm>
          <a:custGeom>
            <a:avLst/>
            <a:gdLst/>
            <a:ahLst/>
            <a:cxnLst/>
            <a:rect l="l" t="t" r="r" b="b"/>
            <a:pathLst>
              <a:path w="2844800" h="421580">
                <a:moveTo>
                  <a:pt x="210790" y="0"/>
                </a:moveTo>
                <a:lnTo>
                  <a:pt x="2634010" y="0"/>
                </a:lnTo>
                <a:arcTo hR="210790" wR="210790" stAng="16200000" swAng="5400000"/>
                <a:lnTo>
                  <a:pt x="2844800" y="210790"/>
                </a:lnTo>
                <a:arcTo hR="210790" wR="210790" stAng="0" swAng="5400000"/>
                <a:lnTo>
                  <a:pt x="210790" y="421580"/>
                </a:lnTo>
                <a:arcTo hR="210790" wR="210790" stAng="5400000" swAng="5400000"/>
                <a:lnTo>
                  <a:pt x="0" y="210790"/>
                </a:lnTo>
                <a:arcTo hR="210790" wR="210790" stAng="10800000" swAng="5400000"/>
                <a:close/>
              </a:path>
            </a:pathLst>
          </a:custGeom>
          <a:solidFill>
            <a:srgbClr val="F08A50"/>
          </a:solidFill>
          <a:ln/>
        </p:spPr>
        <p:txBody>
          <a:bodyPr wrap="square" lIns="177800" tIns="50800" rIns="103124" bIns="25400" rtlCol="0" anchor="t">
            <a:normAutofit/>
          </a:bodyPr>
          <a:lstStyle/>
          <a:p>
            <a:pPr algn="l" indent="0" marL="0">
              <a:lnSpc>
                <a:spcPts val="2520"/>
              </a:lnSpc>
              <a:buNone/>
            </a:pPr>
            <a:r>
              <a:rPr lang="en-US" sz="1800" b="1" dirty="0">
                <a:solidFill>
                  <a:srgbClr val="10272B"/>
                </a:solidFill>
                <a:latin typeface="Rubik" pitchFamily="34" charset="0"/>
                <a:ea typeface="Rubik" pitchFamily="34" charset="-122"/>
                <a:cs typeface="Rubik" pitchFamily="34" charset="-120"/>
              </a:rPr>
              <a:t>HIGH</a:t>
            </a:r>
            <a:endParaRPr lang="en-US" sz="1800" dirty="0"/>
          </a:p>
        </p:txBody>
      </p:sp>
      <p:sp>
        <p:nvSpPr>
          <p:cNvPr id="40" name="Text 37"/>
          <p:cNvSpPr/>
          <p:nvPr/>
        </p:nvSpPr>
        <p:spPr>
          <a:xfrm>
            <a:off x="8305800" y="3007221"/>
            <a:ext cx="2930144" cy="75674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F2EA"/>
                </a:solidFill>
                <a:latin typeface="JetBrains Mono" pitchFamily="49" charset="0"/>
                <a:ea typeface="JetBrains Mono" pitchFamily="49" charset="-122"/>
                <a:cs typeface="JetBrains Mono" pitchFamily="49" charset="-120"/>
              </a:rPr>
              <a:t>STAGE_2_HYPERTENSION</a:t>
            </a:r>
            <a:endParaRPr lang="en-US" sz="1200" dirty="0"/>
          </a:p>
          <a:p>
            <a:pPr algn="l" indent="0" marL="0">
              <a:lnSpc>
                <a:spcPts val="1920"/>
              </a:lnSpc>
              <a:buNone/>
            </a:pPr>
            <a:r>
              <a:rPr lang="en-US" sz="1200" dirty="0">
                <a:solidFill>
                  <a:srgbClr val="F5F2EA"/>
                </a:solidFill>
                <a:latin typeface="JetBrains Mono" pitchFamily="49" charset="0"/>
                <a:ea typeface="JetBrains Mono" pitchFamily="49" charset="-122"/>
                <a:cs typeface="JetBrains Mono" pitchFamily="49" charset="-120"/>
              </a:rPr>
              <a:t>FEBRILE_ILLNESS_ALERT</a:t>
            </a:r>
            <a:endParaRPr lang="en-US" sz="1200" dirty="0"/>
          </a:p>
          <a:p>
            <a:pPr algn="l" indent="0" marL="0">
              <a:lnSpc>
                <a:spcPts val="1920"/>
              </a:lnSpc>
              <a:buNone/>
            </a:pPr>
            <a:r>
              <a:rPr lang="en-US" sz="1200" dirty="0">
                <a:solidFill>
                  <a:srgbClr val="F5F2EA"/>
                </a:solidFill>
                <a:latin typeface="JetBrains Mono" pitchFamily="49" charset="0"/>
                <a:ea typeface="JetBrains Mono" pitchFamily="49" charset="-122"/>
                <a:cs typeface="JetBrains Mono" pitchFamily="49" charset="-120"/>
              </a:rPr>
              <a:t>BMI_OBESE_1</a:t>
            </a:r>
            <a:endParaRPr lang="en-US" sz="1200" dirty="0"/>
          </a:p>
        </p:txBody>
      </p:sp>
      <p:sp>
        <p:nvSpPr>
          <p:cNvPr id="41" name="Text 38"/>
          <p:cNvSpPr/>
          <p:nvPr/>
        </p:nvSpPr>
        <p:spPr>
          <a:xfrm>
            <a:off x="8305800" y="3840163"/>
            <a:ext cx="293014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C4C1"/>
                </a:solidFill>
                <a:latin typeface="Public Sans" pitchFamily="34" charset="0"/>
                <a:ea typeface="Public Sans" pitchFamily="34" charset="-122"/>
                <a:cs typeface="Public Sans" pitchFamily="34" charset="-120"/>
              </a:rPr>
              <a:t>Referral: not required</a:t>
            </a:r>
            <a:endParaRPr lang="en-US" sz="1300" dirty="0"/>
          </a:p>
        </p:txBody>
      </p:sp>
      <p:sp>
        <p:nvSpPr>
          <p:cNvPr id="42" name="Text 39"/>
          <p:cNvSpPr/>
          <p:nvPr/>
        </p:nvSpPr>
        <p:spPr>
          <a:xfrm>
            <a:off x="812800" y="4572000"/>
            <a:ext cx="113792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C"/>
                </a:solidFill>
                <a:latin typeface="Public Sans" pitchFamily="34" charset="0"/>
                <a:ea typeface="Public Sans" pitchFamily="34" charset="-122"/>
                <a:cs typeface="Public Sans" pitchFamily="34" charset="-120"/>
              </a:rPr>
              <a:t>The verdict updates live as the nurse types. The ranges shown are enforced by the database; the nurse adds notes and saves.</a:t>
            </a:r>
            <a:endParaRPr lang="en-US" sz="1400" dirty="0"/>
          </a:p>
        </p:txBody>
      </p:sp>
      <p:sp>
        <p:nvSpPr>
          <p:cNvPr id="43" name="Text 4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44" name="Text 4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THRESHOLD · BLOOD PRESSURE</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Blood pressure sets the base severity</a:t>
            </a:r>
            <a:endParaRPr lang="en-US" sz="3600" dirty="0"/>
          </a:p>
        </p:txBody>
      </p:sp>
      <p:sp>
        <p:nvSpPr>
          <p:cNvPr id="4" name="Text 2"/>
          <p:cNvSpPr/>
          <p:nvPr/>
        </p:nvSpPr>
        <p:spPr>
          <a:xfrm>
            <a:off x="812800" y="1587500"/>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5C"/>
                </a:solidFill>
                <a:latin typeface="Public Sans" pitchFamily="34" charset="0"/>
                <a:ea typeface="Public Sans" pitchFamily="34" charset="-122"/>
                <a:cs typeface="Public Sans" pitchFamily="34" charset="-120"/>
              </a:rPr>
              <a:t>Philippine CPG for Hypertension, in mmHg. Whichever of systolic or diastolic is worse decides. Only a crisis forces a referral.</a:t>
            </a:r>
            <a:endParaRPr lang="en-US" sz="1500" dirty="0"/>
          </a:p>
        </p:txBody>
      </p:sp>
      <p:sp>
        <p:nvSpPr>
          <p:cNvPr id="5" name="Shape 3"/>
          <p:cNvSpPr/>
          <p:nvPr/>
        </p:nvSpPr>
        <p:spPr>
          <a:xfrm>
            <a:off x="812800" y="4064000"/>
            <a:ext cx="2565400" cy="1651000"/>
          </a:xfrm>
          <a:custGeom>
            <a:avLst/>
            <a:gdLst/>
            <a:ahLst/>
            <a:cxnLst/>
            <a:rect l="l" t="t" r="r" b="b"/>
            <a:pathLst>
              <a:path w="2565400" h="1651000">
                <a:moveTo>
                  <a:pt x="127000" y="0"/>
                </a:moveTo>
                <a:lnTo>
                  <a:pt x="2438400" y="0"/>
                </a:lnTo>
                <a:arcTo hR="127000" wR="127000" stAng="16200000" swAng="5400000"/>
                <a:lnTo>
                  <a:pt x="2565400" y="1651000"/>
                </a:lnTo>
                <a:lnTo>
                  <a:pt x="0" y="1651000"/>
                </a:lnTo>
                <a:lnTo>
                  <a:pt x="0" y="127000"/>
                </a:lnTo>
                <a:arcTo hR="127000" wR="127000" stAng="10800000" swAng="5400000"/>
                <a:close/>
              </a:path>
            </a:pathLst>
          </a:custGeom>
          <a:solidFill>
            <a:srgbClr val="DCEBE3"/>
          </a:solidFill>
          <a:ln/>
        </p:spPr>
      </p:sp>
      <p:sp>
        <p:nvSpPr>
          <p:cNvPr id="6" name="Text 4"/>
          <p:cNvSpPr/>
          <p:nvPr/>
        </p:nvSpPr>
        <p:spPr>
          <a:xfrm>
            <a:off x="1016000" y="42672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5E44"/>
                </a:solidFill>
                <a:latin typeface="Public Sans" pitchFamily="34" charset="0"/>
                <a:ea typeface="Public Sans" pitchFamily="34" charset="-122"/>
                <a:cs typeface="Public Sans" pitchFamily="34" charset="-120"/>
              </a:rPr>
              <a:t>NORMAL</a:t>
            </a:r>
            <a:endParaRPr lang="en-US" sz="1200" dirty="0"/>
          </a:p>
        </p:txBody>
      </p:sp>
      <p:sp>
        <p:nvSpPr>
          <p:cNvPr id="7" name="Text 5"/>
          <p:cNvSpPr/>
          <p:nvPr/>
        </p:nvSpPr>
        <p:spPr>
          <a:xfrm>
            <a:off x="1016000" y="4556720"/>
            <a:ext cx="222377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72B"/>
                </a:solidFill>
                <a:latin typeface="Rubik" pitchFamily="34" charset="0"/>
                <a:ea typeface="Rubik" pitchFamily="34" charset="-122"/>
                <a:cs typeface="Rubik" pitchFamily="34" charset="-120"/>
              </a:rPr>
              <a:t>Normal</a:t>
            </a:r>
            <a:endParaRPr lang="en-US" sz="1800" dirty="0"/>
          </a:p>
        </p:txBody>
      </p:sp>
      <p:sp>
        <p:nvSpPr>
          <p:cNvPr id="8" name="Text 6"/>
          <p:cNvSpPr/>
          <p:nvPr/>
        </p:nvSpPr>
        <p:spPr>
          <a:xfrm>
            <a:off x="1016000" y="4907161"/>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272B"/>
                </a:solidFill>
                <a:latin typeface="Public Sans" pitchFamily="34" charset="0"/>
                <a:ea typeface="Public Sans" pitchFamily="34" charset="-122"/>
                <a:cs typeface="Public Sans" pitchFamily="34" charset="-120"/>
              </a:rPr>
              <a:t>Below 120 / 80</a:t>
            </a:r>
            <a:endParaRPr lang="en-US" sz="1400" dirty="0"/>
          </a:p>
        </p:txBody>
      </p:sp>
      <p:sp>
        <p:nvSpPr>
          <p:cNvPr id="9" name="Shape 7"/>
          <p:cNvSpPr/>
          <p:nvPr/>
        </p:nvSpPr>
        <p:spPr>
          <a:xfrm>
            <a:off x="3479800" y="3492500"/>
            <a:ext cx="2565400" cy="2222500"/>
          </a:xfrm>
          <a:custGeom>
            <a:avLst/>
            <a:gdLst/>
            <a:ahLst/>
            <a:cxnLst/>
            <a:rect l="l" t="t" r="r" b="b"/>
            <a:pathLst>
              <a:path w="2565400" h="2222500">
                <a:moveTo>
                  <a:pt x="127000" y="0"/>
                </a:moveTo>
                <a:lnTo>
                  <a:pt x="2438400" y="0"/>
                </a:lnTo>
                <a:arcTo hR="127000" wR="127000" stAng="16200000" swAng="5400000"/>
                <a:lnTo>
                  <a:pt x="2565400" y="2222500"/>
                </a:lnTo>
                <a:lnTo>
                  <a:pt x="0" y="2222500"/>
                </a:lnTo>
                <a:lnTo>
                  <a:pt x="0" y="127000"/>
                </a:lnTo>
                <a:arcTo hR="127000" wR="127000" stAng="10800000" swAng="5400000"/>
                <a:close/>
              </a:path>
            </a:pathLst>
          </a:custGeom>
          <a:solidFill>
            <a:srgbClr val="F6E7BE"/>
          </a:solidFill>
          <a:ln/>
        </p:spPr>
      </p:sp>
      <p:sp>
        <p:nvSpPr>
          <p:cNvPr id="10" name="Text 8"/>
          <p:cNvSpPr/>
          <p:nvPr/>
        </p:nvSpPr>
        <p:spPr>
          <a:xfrm>
            <a:off x="3683000" y="36957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5A00"/>
                </a:solidFill>
                <a:latin typeface="Public Sans" pitchFamily="34" charset="0"/>
                <a:ea typeface="Public Sans" pitchFamily="34" charset="-122"/>
                <a:cs typeface="Public Sans" pitchFamily="34" charset="-120"/>
              </a:rPr>
              <a:t>ELEVATED</a:t>
            </a:r>
            <a:endParaRPr lang="en-US" sz="1200" dirty="0"/>
          </a:p>
        </p:txBody>
      </p:sp>
      <p:sp>
        <p:nvSpPr>
          <p:cNvPr id="11" name="Text 9"/>
          <p:cNvSpPr/>
          <p:nvPr/>
        </p:nvSpPr>
        <p:spPr>
          <a:xfrm>
            <a:off x="3683000" y="3985220"/>
            <a:ext cx="222377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72B"/>
                </a:solidFill>
                <a:latin typeface="Rubik" pitchFamily="34" charset="0"/>
                <a:ea typeface="Rubik" pitchFamily="34" charset="-122"/>
                <a:cs typeface="Rubik" pitchFamily="34" charset="-120"/>
              </a:rPr>
              <a:t>Pre-hypertension</a:t>
            </a:r>
            <a:endParaRPr lang="en-US" sz="1800" dirty="0"/>
          </a:p>
        </p:txBody>
      </p:sp>
      <p:sp>
        <p:nvSpPr>
          <p:cNvPr id="12" name="Text 10"/>
          <p:cNvSpPr/>
          <p:nvPr/>
        </p:nvSpPr>
        <p:spPr>
          <a:xfrm>
            <a:off x="3683000" y="4335661"/>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272B"/>
                </a:solidFill>
                <a:latin typeface="Public Sans" pitchFamily="34" charset="0"/>
                <a:ea typeface="Public Sans" pitchFamily="34" charset="-122"/>
                <a:cs typeface="Public Sans" pitchFamily="34" charset="-120"/>
              </a:rPr>
              <a:t>120–139 or 80–89</a:t>
            </a:r>
            <a:endParaRPr lang="en-US" sz="1400" dirty="0"/>
          </a:p>
        </p:txBody>
      </p:sp>
      <p:sp>
        <p:nvSpPr>
          <p:cNvPr id="13" name="Shape 11"/>
          <p:cNvSpPr/>
          <p:nvPr/>
        </p:nvSpPr>
        <p:spPr>
          <a:xfrm>
            <a:off x="6146800" y="2921000"/>
            <a:ext cx="2565400" cy="2794000"/>
          </a:xfrm>
          <a:custGeom>
            <a:avLst/>
            <a:gdLst/>
            <a:ahLst/>
            <a:cxnLst/>
            <a:rect l="l" t="t" r="r" b="b"/>
            <a:pathLst>
              <a:path w="2565400" h="2794000">
                <a:moveTo>
                  <a:pt x="127000" y="0"/>
                </a:moveTo>
                <a:lnTo>
                  <a:pt x="2438400" y="0"/>
                </a:lnTo>
                <a:arcTo hR="127000" wR="127000" stAng="16200000" swAng="5400000"/>
                <a:lnTo>
                  <a:pt x="2565400" y="2794000"/>
                </a:lnTo>
                <a:lnTo>
                  <a:pt x="0" y="2794000"/>
                </a:lnTo>
                <a:lnTo>
                  <a:pt x="0" y="127000"/>
                </a:lnTo>
                <a:arcTo hR="127000" wR="127000" stAng="10800000" swAng="5400000"/>
                <a:close/>
              </a:path>
            </a:pathLst>
          </a:custGeom>
          <a:solidFill>
            <a:srgbClr val="F6D2BC"/>
          </a:solidFill>
          <a:ln/>
        </p:spPr>
      </p:sp>
      <p:sp>
        <p:nvSpPr>
          <p:cNvPr id="14" name="Text 12"/>
          <p:cNvSpPr/>
          <p:nvPr/>
        </p:nvSpPr>
        <p:spPr>
          <a:xfrm>
            <a:off x="6350000" y="31242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3A12"/>
                </a:solidFill>
                <a:latin typeface="Public Sans" pitchFamily="34" charset="0"/>
                <a:ea typeface="Public Sans" pitchFamily="34" charset="-122"/>
                <a:cs typeface="Public Sans" pitchFamily="34" charset="-120"/>
              </a:rPr>
              <a:t>HIGH</a:t>
            </a:r>
            <a:endParaRPr lang="en-US" sz="1200" dirty="0"/>
          </a:p>
        </p:txBody>
      </p:sp>
      <p:sp>
        <p:nvSpPr>
          <p:cNvPr id="15" name="Text 13"/>
          <p:cNvSpPr/>
          <p:nvPr/>
        </p:nvSpPr>
        <p:spPr>
          <a:xfrm>
            <a:off x="6350000" y="3413720"/>
            <a:ext cx="2223770"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72B"/>
                </a:solidFill>
                <a:latin typeface="Rubik" pitchFamily="34" charset="0"/>
                <a:ea typeface="Rubik" pitchFamily="34" charset="-122"/>
                <a:cs typeface="Rubik" pitchFamily="34" charset="-120"/>
              </a:rPr>
              <a:t>Stage 2 hypertension</a:t>
            </a:r>
            <a:endParaRPr lang="en-US" sz="1800" dirty="0"/>
          </a:p>
        </p:txBody>
      </p:sp>
      <p:sp>
        <p:nvSpPr>
          <p:cNvPr id="16" name="Text 14"/>
          <p:cNvSpPr/>
          <p:nvPr/>
        </p:nvSpPr>
        <p:spPr>
          <a:xfrm>
            <a:off x="6350000" y="4038402"/>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272B"/>
                </a:solidFill>
                <a:latin typeface="Public Sans" pitchFamily="34" charset="0"/>
                <a:ea typeface="Public Sans" pitchFamily="34" charset="-122"/>
                <a:cs typeface="Public Sans" pitchFamily="34" charset="-120"/>
              </a:rPr>
              <a:t>140–179 or 90–119</a:t>
            </a:r>
            <a:endParaRPr lang="en-US" sz="1400" dirty="0"/>
          </a:p>
        </p:txBody>
      </p:sp>
      <p:sp>
        <p:nvSpPr>
          <p:cNvPr id="17" name="Shape 15"/>
          <p:cNvSpPr/>
          <p:nvPr/>
        </p:nvSpPr>
        <p:spPr>
          <a:xfrm>
            <a:off x="8813800" y="2349500"/>
            <a:ext cx="2565400" cy="3365500"/>
          </a:xfrm>
          <a:custGeom>
            <a:avLst/>
            <a:gdLst/>
            <a:ahLst/>
            <a:cxnLst/>
            <a:rect l="l" t="t" r="r" b="b"/>
            <a:pathLst>
              <a:path w="2565400" h="3365500">
                <a:moveTo>
                  <a:pt x="127000" y="0"/>
                </a:moveTo>
                <a:lnTo>
                  <a:pt x="2438400" y="0"/>
                </a:lnTo>
                <a:arcTo hR="127000" wR="127000" stAng="16200000" swAng="5400000"/>
                <a:lnTo>
                  <a:pt x="2565400" y="3365500"/>
                </a:lnTo>
                <a:lnTo>
                  <a:pt x="0" y="3365500"/>
                </a:lnTo>
                <a:lnTo>
                  <a:pt x="0" y="127000"/>
                </a:lnTo>
                <a:arcTo hR="127000" wR="127000" stAng="10800000" swAng="5400000"/>
                <a:close/>
              </a:path>
            </a:pathLst>
          </a:custGeom>
          <a:solidFill>
            <a:srgbClr val="C23B32"/>
          </a:solidFill>
          <a:ln/>
        </p:spPr>
      </p:sp>
      <p:sp>
        <p:nvSpPr>
          <p:cNvPr id="18" name="Text 16"/>
          <p:cNvSpPr/>
          <p:nvPr/>
        </p:nvSpPr>
        <p:spPr>
          <a:xfrm>
            <a:off x="9017000" y="25527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BF4EE"/>
                </a:solidFill>
                <a:latin typeface="Public Sans" pitchFamily="34" charset="0"/>
                <a:ea typeface="Public Sans" pitchFamily="34" charset="-122"/>
                <a:cs typeface="Public Sans" pitchFamily="34" charset="-120"/>
              </a:rPr>
              <a:t>CRITICAL</a:t>
            </a:r>
            <a:endParaRPr lang="en-US" sz="1200" dirty="0"/>
          </a:p>
        </p:txBody>
      </p:sp>
      <p:sp>
        <p:nvSpPr>
          <p:cNvPr id="19" name="Text 17"/>
          <p:cNvSpPr/>
          <p:nvPr/>
        </p:nvSpPr>
        <p:spPr>
          <a:xfrm>
            <a:off x="9017000" y="2842220"/>
            <a:ext cx="2223770"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4EE"/>
                </a:solidFill>
                <a:latin typeface="Rubik" pitchFamily="34" charset="0"/>
                <a:ea typeface="Rubik" pitchFamily="34" charset="-122"/>
                <a:cs typeface="Rubik" pitchFamily="34" charset="-120"/>
              </a:rPr>
              <a:t>Hypertensive crisis</a:t>
            </a:r>
            <a:endParaRPr lang="en-US" sz="1800" dirty="0"/>
          </a:p>
        </p:txBody>
      </p:sp>
      <p:sp>
        <p:nvSpPr>
          <p:cNvPr id="20" name="Text 18"/>
          <p:cNvSpPr/>
          <p:nvPr/>
        </p:nvSpPr>
        <p:spPr>
          <a:xfrm>
            <a:off x="9017000" y="3466902"/>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4EE"/>
                </a:solidFill>
                <a:latin typeface="Public Sans" pitchFamily="34" charset="0"/>
                <a:ea typeface="Public Sans" pitchFamily="34" charset="-122"/>
                <a:cs typeface="Public Sans" pitchFamily="34" charset="-120"/>
              </a:rPr>
              <a:t>180+ or 120+</a:t>
            </a:r>
            <a:endParaRPr lang="en-US" sz="1400" dirty="0"/>
          </a:p>
        </p:txBody>
      </p:sp>
      <p:pic>
        <p:nvPicPr>
          <p:cNvPr id="21" name="Image 0" descr="Warning">    </p:cNvPr>
          <p:cNvPicPr>
            <a:picLocks noChangeAspect="1"/>
          </p:cNvPicPr>
          <p:nvPr/>
        </p:nvPicPr>
        <p:blipFill>
          <a:blip r:embed="rId1"/>
          <a:srcRect l="0" r="0" t="0" b="0"/>
          <a:stretch/>
        </p:blipFill>
        <p:spPr>
          <a:xfrm>
            <a:off x="9017000" y="3791942"/>
            <a:ext cx="254000" cy="254000"/>
          </a:xfrm>
          <a:prstGeom prst="rect">
            <a:avLst/>
          </a:prstGeom>
        </p:spPr>
      </p:pic>
      <p:sp>
        <p:nvSpPr>
          <p:cNvPr id="22" name="Text 19"/>
          <p:cNvSpPr/>
          <p:nvPr/>
        </p:nvSpPr>
        <p:spPr>
          <a:xfrm>
            <a:off x="9347200" y="3794522"/>
            <a:ext cx="174986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BF4EE"/>
                </a:solidFill>
                <a:latin typeface="Public Sans" pitchFamily="34" charset="0"/>
                <a:ea typeface="Public Sans" pitchFamily="34" charset="-122"/>
                <a:cs typeface="Public Sans" pitchFamily="34" charset="-120"/>
              </a:rPr>
              <a:t>Referral required</a:t>
            </a:r>
            <a:endParaRPr lang="en-US" sz="1400" dirty="0"/>
          </a:p>
        </p:txBody>
      </p:sp>
      <p:sp>
        <p:nvSpPr>
          <p:cNvPr id="23"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24"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THRESHOLD · FEVER AND BMI</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Fever and body weight add flags</a:t>
            </a:r>
            <a:endParaRPr lang="en-US" sz="3600" dirty="0"/>
          </a:p>
        </p:txBody>
      </p:sp>
      <p:sp>
        <p:nvSpPr>
          <p:cNvPr id="4" name="Shape 2"/>
          <p:cNvSpPr/>
          <p:nvPr/>
        </p:nvSpPr>
        <p:spPr>
          <a:xfrm>
            <a:off x="815975" y="1844675"/>
            <a:ext cx="3803650" cy="3041650"/>
          </a:xfrm>
          <a:prstGeom prst="roundRect">
            <a:avLst>
              <a:gd name="adj" fmla="val 4071"/>
            </a:avLst>
          </a:prstGeom>
          <a:solidFill>
            <a:srgbClr val="FBFAF6"/>
          </a:solidFill>
          <a:ln w="6350">
            <a:solidFill>
              <a:srgbClr val="DDD6C6"/>
            </a:solidFill>
            <a:prstDash val="solid"/>
          </a:ln>
        </p:spPr>
      </p:sp>
      <p:pic>
        <p:nvPicPr>
          <p:cNvPr id="5" name="Image 0" descr="Thermometer with the mark at 38.0 degrees">    </p:cNvPr>
          <p:cNvPicPr>
            <a:picLocks noChangeAspect="1"/>
          </p:cNvPicPr>
          <p:nvPr/>
        </p:nvPicPr>
        <p:blipFill>
          <a:blip r:embed="rId1"/>
          <a:srcRect l="0" r="0" t="0" b="0"/>
          <a:stretch/>
        </p:blipFill>
        <p:spPr>
          <a:xfrm>
            <a:off x="1066800" y="2095500"/>
            <a:ext cx="762000" cy="2540000"/>
          </a:xfrm>
          <a:prstGeom prst="rect">
            <a:avLst/>
          </a:prstGeom>
        </p:spPr>
      </p:pic>
      <p:sp>
        <p:nvSpPr>
          <p:cNvPr id="6" name="Text 3"/>
          <p:cNvSpPr/>
          <p:nvPr/>
        </p:nvSpPr>
        <p:spPr>
          <a:xfrm>
            <a:off x="2095500" y="2286000"/>
            <a:ext cx="2419985"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B8501F"/>
                </a:solidFill>
                <a:latin typeface="Rubik" pitchFamily="34" charset="0"/>
                <a:ea typeface="Rubik" pitchFamily="34" charset="-122"/>
                <a:cs typeface="Rubik" pitchFamily="34" charset="-120"/>
              </a:rPr>
              <a:t>38.0 °C</a:t>
            </a:r>
            <a:endParaRPr lang="en-US" sz="3600" dirty="0"/>
          </a:p>
        </p:txBody>
      </p:sp>
      <p:sp>
        <p:nvSpPr>
          <p:cNvPr id="7" name="Text 4"/>
          <p:cNvSpPr/>
          <p:nvPr/>
        </p:nvSpPr>
        <p:spPr>
          <a:xfrm>
            <a:off x="2095500" y="2921000"/>
            <a:ext cx="241998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272B"/>
                </a:solidFill>
                <a:latin typeface="Public Sans" pitchFamily="34" charset="0"/>
                <a:ea typeface="Public Sans" pitchFamily="34" charset="-122"/>
                <a:cs typeface="Public Sans" pitchFamily="34" charset="-120"/>
              </a:rPr>
              <a:t>or higher raises</a:t>
            </a:r>
            <a:endParaRPr lang="en-US" sz="1400" dirty="0"/>
          </a:p>
        </p:txBody>
      </p:sp>
      <p:sp>
        <p:nvSpPr>
          <p:cNvPr id="8" name="Text 5"/>
          <p:cNvSpPr/>
          <p:nvPr/>
        </p:nvSpPr>
        <p:spPr>
          <a:xfrm>
            <a:off x="2095500" y="3238500"/>
            <a:ext cx="2419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272B"/>
                </a:solidFill>
                <a:latin typeface="JetBrains Mono" pitchFamily="49" charset="0"/>
                <a:ea typeface="JetBrains Mono" pitchFamily="49" charset="-122"/>
                <a:cs typeface="JetBrains Mono" pitchFamily="49" charset="-120"/>
              </a:rPr>
              <a:t>FEBRILE_ILLNESS_ALERT</a:t>
            </a:r>
            <a:endParaRPr lang="en-US" sz="1200" dirty="0"/>
          </a:p>
        </p:txBody>
      </p:sp>
      <p:sp>
        <p:nvSpPr>
          <p:cNvPr id="9" name="Text 6"/>
          <p:cNvSpPr/>
          <p:nvPr/>
        </p:nvSpPr>
        <p:spPr>
          <a:xfrm>
            <a:off x="2095500" y="3619500"/>
            <a:ext cx="241998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C"/>
                </a:solidFill>
                <a:latin typeface="Public Sans" pitchFamily="34" charset="0"/>
                <a:ea typeface="Public Sans" pitchFamily="34" charset="-122"/>
                <a:cs typeface="Public Sans" pitchFamily="34" charset="-120"/>
              </a:rPr>
              <a:t>If BP was Normal, severity rises to Elevated.</a:t>
            </a:r>
            <a:endParaRPr lang="en-US" sz="1300" dirty="0"/>
          </a:p>
        </p:txBody>
      </p:sp>
      <p:sp>
        <p:nvSpPr>
          <p:cNvPr id="10" name="Text 7"/>
          <p:cNvSpPr/>
          <p:nvPr/>
        </p:nvSpPr>
        <p:spPr>
          <a:xfrm>
            <a:off x="4927600" y="1905000"/>
            <a:ext cx="664514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72B"/>
                </a:solidFill>
                <a:latin typeface="Rubik" pitchFamily="34" charset="0"/>
                <a:ea typeface="Rubik" pitchFamily="34" charset="-122"/>
                <a:cs typeface="Rubik" pitchFamily="34" charset="-120"/>
              </a:rPr>
              <a:t>BMI · WHO Asia-Pacific cut-offs</a:t>
            </a:r>
            <a:endParaRPr lang="en-US" sz="1800" dirty="0"/>
          </a:p>
        </p:txBody>
      </p:sp>
      <p:sp>
        <p:nvSpPr>
          <p:cNvPr id="11" name="Shape 8"/>
          <p:cNvSpPr/>
          <p:nvPr/>
        </p:nvSpPr>
        <p:spPr>
          <a:xfrm>
            <a:off x="4927600" y="2413000"/>
            <a:ext cx="1270000" cy="406400"/>
          </a:xfrm>
          <a:custGeom>
            <a:avLst/>
            <a:gdLst/>
            <a:ahLst/>
            <a:cxnLst/>
            <a:rect l="l" t="t" r="r" b="b"/>
            <a:pathLst>
              <a:path w="1270000" h="406400">
                <a:moveTo>
                  <a:pt x="76200" y="0"/>
                </a:moveTo>
                <a:lnTo>
                  <a:pt x="1270000" y="0"/>
                </a:lnTo>
                <a:lnTo>
                  <a:pt x="1270000" y="406400"/>
                </a:lnTo>
                <a:lnTo>
                  <a:pt x="76200" y="406400"/>
                </a:lnTo>
                <a:arcTo hR="76200" wR="76200" stAng="5400000" swAng="5400000"/>
                <a:lnTo>
                  <a:pt x="0" y="76200"/>
                </a:lnTo>
                <a:arcTo hR="76200" wR="76200" stAng="10800000" swAng="5400000"/>
                <a:close/>
              </a:path>
            </a:pathLst>
          </a:custGeom>
          <a:solidFill>
            <a:srgbClr val="9CC3D5"/>
          </a:solidFill>
          <a:ln/>
        </p:spPr>
      </p:sp>
      <p:sp>
        <p:nvSpPr>
          <p:cNvPr id="12" name="Text 9"/>
          <p:cNvSpPr/>
          <p:nvPr/>
        </p:nvSpPr>
        <p:spPr>
          <a:xfrm>
            <a:off x="4927600" y="2870200"/>
            <a:ext cx="1320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272B"/>
                </a:solidFill>
                <a:latin typeface="Public Sans" pitchFamily="34" charset="0"/>
                <a:ea typeface="Public Sans" pitchFamily="34" charset="-122"/>
                <a:cs typeface="Public Sans" pitchFamily="34" charset="-120"/>
              </a:rPr>
              <a:t>Underweight</a:t>
            </a:r>
            <a:endParaRPr lang="en-US" sz="1300" dirty="0"/>
          </a:p>
        </p:txBody>
      </p:sp>
      <p:sp>
        <p:nvSpPr>
          <p:cNvPr id="13" name="Text 10"/>
          <p:cNvSpPr/>
          <p:nvPr/>
        </p:nvSpPr>
        <p:spPr>
          <a:xfrm>
            <a:off x="4927600" y="315208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272B"/>
                </a:solidFill>
                <a:latin typeface="JetBrains Mono" pitchFamily="49" charset="0"/>
                <a:ea typeface="JetBrains Mono" pitchFamily="49" charset="-122"/>
                <a:cs typeface="JetBrains Mono" pitchFamily="49" charset="-120"/>
              </a:rPr>
              <a:t>&lt; 18.5</a:t>
            </a:r>
            <a:endParaRPr lang="en-US" sz="1200" dirty="0"/>
          </a:p>
        </p:txBody>
      </p:sp>
      <p:sp>
        <p:nvSpPr>
          <p:cNvPr id="14" name="Text 11"/>
          <p:cNvSpPr/>
          <p:nvPr/>
        </p:nvSpPr>
        <p:spPr>
          <a:xfrm>
            <a:off x="4927600" y="341620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F"/>
                </a:solidFill>
                <a:latin typeface="Public Sans" pitchFamily="34" charset="0"/>
                <a:ea typeface="Public Sans" pitchFamily="34" charset="-122"/>
                <a:cs typeface="Public Sans" pitchFamily="34" charset="-120"/>
              </a:rPr>
              <a:t>Flagged</a:t>
            </a:r>
            <a:endParaRPr lang="en-US" sz="1200" dirty="0"/>
          </a:p>
        </p:txBody>
      </p:sp>
      <p:sp>
        <p:nvSpPr>
          <p:cNvPr id="15" name="Shape 12"/>
          <p:cNvSpPr/>
          <p:nvPr/>
        </p:nvSpPr>
        <p:spPr>
          <a:xfrm>
            <a:off x="6223000" y="2413000"/>
            <a:ext cx="1270000" cy="406400"/>
          </a:xfrm>
          <a:prstGeom prst="rect">
            <a:avLst/>
          </a:prstGeom>
          <a:solidFill>
            <a:srgbClr val="3E9C7A"/>
          </a:solidFill>
          <a:ln/>
        </p:spPr>
      </p:sp>
      <p:sp>
        <p:nvSpPr>
          <p:cNvPr id="16" name="Text 13"/>
          <p:cNvSpPr/>
          <p:nvPr/>
        </p:nvSpPr>
        <p:spPr>
          <a:xfrm>
            <a:off x="6223000" y="2870200"/>
            <a:ext cx="1320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272B"/>
                </a:solidFill>
                <a:latin typeface="Public Sans" pitchFamily="34" charset="0"/>
                <a:ea typeface="Public Sans" pitchFamily="34" charset="-122"/>
                <a:cs typeface="Public Sans" pitchFamily="34" charset="-120"/>
              </a:rPr>
              <a:t>Normal</a:t>
            </a:r>
            <a:endParaRPr lang="en-US" sz="1300" dirty="0"/>
          </a:p>
        </p:txBody>
      </p:sp>
      <p:sp>
        <p:nvSpPr>
          <p:cNvPr id="17" name="Text 14"/>
          <p:cNvSpPr/>
          <p:nvPr/>
        </p:nvSpPr>
        <p:spPr>
          <a:xfrm>
            <a:off x="6223000" y="315208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272B"/>
                </a:solidFill>
                <a:latin typeface="JetBrains Mono" pitchFamily="49" charset="0"/>
                <a:ea typeface="JetBrains Mono" pitchFamily="49" charset="-122"/>
                <a:cs typeface="JetBrains Mono" pitchFamily="49" charset="-120"/>
              </a:rPr>
              <a:t>18.5–22.9</a:t>
            </a:r>
            <a:endParaRPr lang="en-US" sz="1200" dirty="0"/>
          </a:p>
        </p:txBody>
      </p:sp>
      <p:sp>
        <p:nvSpPr>
          <p:cNvPr id="18" name="Text 15"/>
          <p:cNvSpPr/>
          <p:nvPr/>
        </p:nvSpPr>
        <p:spPr>
          <a:xfrm>
            <a:off x="6223000" y="341620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No flag</a:t>
            </a:r>
            <a:endParaRPr lang="en-US" sz="1200" dirty="0"/>
          </a:p>
        </p:txBody>
      </p:sp>
      <p:sp>
        <p:nvSpPr>
          <p:cNvPr id="19" name="Shape 16"/>
          <p:cNvSpPr/>
          <p:nvPr/>
        </p:nvSpPr>
        <p:spPr>
          <a:xfrm>
            <a:off x="7518400" y="2413000"/>
            <a:ext cx="1270000" cy="406400"/>
          </a:xfrm>
          <a:prstGeom prst="rect">
            <a:avLst/>
          </a:prstGeom>
          <a:solidFill>
            <a:srgbClr val="E0B23A"/>
          </a:solidFill>
          <a:ln/>
        </p:spPr>
      </p:sp>
      <p:sp>
        <p:nvSpPr>
          <p:cNvPr id="20" name="Text 17"/>
          <p:cNvSpPr/>
          <p:nvPr/>
        </p:nvSpPr>
        <p:spPr>
          <a:xfrm>
            <a:off x="7518400" y="2870200"/>
            <a:ext cx="1320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272B"/>
                </a:solidFill>
                <a:latin typeface="Public Sans" pitchFamily="34" charset="0"/>
                <a:ea typeface="Public Sans" pitchFamily="34" charset="-122"/>
                <a:cs typeface="Public Sans" pitchFamily="34" charset="-120"/>
              </a:rPr>
              <a:t>Overweight</a:t>
            </a:r>
            <a:endParaRPr lang="en-US" sz="1300" dirty="0"/>
          </a:p>
        </p:txBody>
      </p:sp>
      <p:sp>
        <p:nvSpPr>
          <p:cNvPr id="21" name="Text 18"/>
          <p:cNvSpPr/>
          <p:nvPr/>
        </p:nvSpPr>
        <p:spPr>
          <a:xfrm>
            <a:off x="7518400" y="315208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272B"/>
                </a:solidFill>
                <a:latin typeface="JetBrains Mono" pitchFamily="49" charset="0"/>
                <a:ea typeface="JetBrains Mono" pitchFamily="49" charset="-122"/>
                <a:cs typeface="JetBrains Mono" pitchFamily="49" charset="-120"/>
              </a:rPr>
              <a:t>23–24.9</a:t>
            </a:r>
            <a:endParaRPr lang="en-US" sz="1200" dirty="0"/>
          </a:p>
        </p:txBody>
      </p:sp>
      <p:sp>
        <p:nvSpPr>
          <p:cNvPr id="22" name="Text 19"/>
          <p:cNvSpPr/>
          <p:nvPr/>
        </p:nvSpPr>
        <p:spPr>
          <a:xfrm>
            <a:off x="7518400" y="341620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No flag</a:t>
            </a:r>
            <a:endParaRPr lang="en-US" sz="1200" dirty="0"/>
          </a:p>
        </p:txBody>
      </p:sp>
      <p:sp>
        <p:nvSpPr>
          <p:cNvPr id="23" name="Shape 20"/>
          <p:cNvSpPr/>
          <p:nvPr/>
        </p:nvSpPr>
        <p:spPr>
          <a:xfrm>
            <a:off x="8813800" y="2413000"/>
            <a:ext cx="1270000" cy="406400"/>
          </a:xfrm>
          <a:prstGeom prst="rect">
            <a:avLst/>
          </a:prstGeom>
          <a:solidFill>
            <a:srgbClr val="E2703A"/>
          </a:solidFill>
          <a:ln/>
        </p:spPr>
      </p:sp>
      <p:sp>
        <p:nvSpPr>
          <p:cNvPr id="24" name="Text 21"/>
          <p:cNvSpPr/>
          <p:nvPr/>
        </p:nvSpPr>
        <p:spPr>
          <a:xfrm>
            <a:off x="8813800" y="2870200"/>
            <a:ext cx="1320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272B"/>
                </a:solidFill>
                <a:latin typeface="Public Sans" pitchFamily="34" charset="0"/>
                <a:ea typeface="Public Sans" pitchFamily="34" charset="-122"/>
                <a:cs typeface="Public Sans" pitchFamily="34" charset="-120"/>
              </a:rPr>
              <a:t>Obese I</a:t>
            </a:r>
            <a:endParaRPr lang="en-US" sz="1300" dirty="0"/>
          </a:p>
        </p:txBody>
      </p:sp>
      <p:sp>
        <p:nvSpPr>
          <p:cNvPr id="25" name="Text 22"/>
          <p:cNvSpPr/>
          <p:nvPr/>
        </p:nvSpPr>
        <p:spPr>
          <a:xfrm>
            <a:off x="8813800" y="315208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272B"/>
                </a:solidFill>
                <a:latin typeface="JetBrains Mono" pitchFamily="49" charset="0"/>
                <a:ea typeface="JetBrains Mono" pitchFamily="49" charset="-122"/>
                <a:cs typeface="JetBrains Mono" pitchFamily="49" charset="-120"/>
              </a:rPr>
              <a:t>25–29.9</a:t>
            </a:r>
            <a:endParaRPr lang="en-US" sz="1200" dirty="0"/>
          </a:p>
        </p:txBody>
      </p:sp>
      <p:sp>
        <p:nvSpPr>
          <p:cNvPr id="26" name="Text 23"/>
          <p:cNvSpPr/>
          <p:nvPr/>
        </p:nvSpPr>
        <p:spPr>
          <a:xfrm>
            <a:off x="8813800" y="341620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F"/>
                </a:solidFill>
                <a:latin typeface="Public Sans" pitchFamily="34" charset="0"/>
                <a:ea typeface="Public Sans" pitchFamily="34" charset="-122"/>
                <a:cs typeface="Public Sans" pitchFamily="34" charset="-120"/>
              </a:rPr>
              <a:t>Flagged</a:t>
            </a:r>
            <a:endParaRPr lang="en-US" sz="1200" dirty="0"/>
          </a:p>
        </p:txBody>
      </p:sp>
      <p:sp>
        <p:nvSpPr>
          <p:cNvPr id="27" name="Shape 24"/>
          <p:cNvSpPr/>
          <p:nvPr/>
        </p:nvSpPr>
        <p:spPr>
          <a:xfrm>
            <a:off x="10109200" y="2413000"/>
            <a:ext cx="1270000" cy="406400"/>
          </a:xfrm>
          <a:custGeom>
            <a:avLst/>
            <a:gdLst/>
            <a:ahLst/>
            <a:cxnLst/>
            <a:rect l="l" t="t" r="r" b="b"/>
            <a:pathLst>
              <a:path w="1270000" h="406400">
                <a:moveTo>
                  <a:pt x="0" y="0"/>
                </a:moveTo>
                <a:lnTo>
                  <a:pt x="1193800" y="0"/>
                </a:lnTo>
                <a:arcTo hR="76200" wR="76200" stAng="16200000" swAng="5400000"/>
                <a:lnTo>
                  <a:pt x="1270000" y="330200"/>
                </a:lnTo>
                <a:arcTo hR="76200" wR="76200" stAng="0" swAng="5400000"/>
                <a:lnTo>
                  <a:pt x="0" y="406400"/>
                </a:lnTo>
                <a:lnTo>
                  <a:pt x="0" y="0"/>
                </a:lnTo>
                <a:close/>
              </a:path>
            </a:pathLst>
          </a:custGeom>
          <a:solidFill>
            <a:srgbClr val="C23B32"/>
          </a:solidFill>
          <a:ln/>
        </p:spPr>
      </p:sp>
      <p:sp>
        <p:nvSpPr>
          <p:cNvPr id="28" name="Text 25"/>
          <p:cNvSpPr/>
          <p:nvPr/>
        </p:nvSpPr>
        <p:spPr>
          <a:xfrm>
            <a:off x="10109200" y="2870200"/>
            <a:ext cx="1320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272B"/>
                </a:solidFill>
                <a:latin typeface="Public Sans" pitchFamily="34" charset="0"/>
                <a:ea typeface="Public Sans" pitchFamily="34" charset="-122"/>
                <a:cs typeface="Public Sans" pitchFamily="34" charset="-120"/>
              </a:rPr>
              <a:t>Obese II</a:t>
            </a:r>
            <a:endParaRPr lang="en-US" sz="1300" dirty="0"/>
          </a:p>
        </p:txBody>
      </p:sp>
      <p:sp>
        <p:nvSpPr>
          <p:cNvPr id="29" name="Text 26"/>
          <p:cNvSpPr/>
          <p:nvPr/>
        </p:nvSpPr>
        <p:spPr>
          <a:xfrm>
            <a:off x="10109200" y="315208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272B"/>
                </a:solidFill>
                <a:latin typeface="JetBrains Mono" pitchFamily="49" charset="0"/>
                <a:ea typeface="JetBrains Mono" pitchFamily="49" charset="-122"/>
                <a:cs typeface="JetBrains Mono" pitchFamily="49" charset="-120"/>
              </a:rPr>
              <a:t>30+</a:t>
            </a:r>
            <a:endParaRPr lang="en-US" sz="1200" dirty="0"/>
          </a:p>
        </p:txBody>
      </p:sp>
      <p:sp>
        <p:nvSpPr>
          <p:cNvPr id="30" name="Text 27"/>
          <p:cNvSpPr/>
          <p:nvPr/>
        </p:nvSpPr>
        <p:spPr>
          <a:xfrm>
            <a:off x="10109200" y="341620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F"/>
                </a:solidFill>
                <a:latin typeface="Public Sans" pitchFamily="34" charset="0"/>
                <a:ea typeface="Public Sans" pitchFamily="34" charset="-122"/>
                <a:cs typeface="Public Sans" pitchFamily="34" charset="-120"/>
              </a:rPr>
              <a:t>Flagged</a:t>
            </a:r>
            <a:endParaRPr lang="en-US" sz="1200" dirty="0"/>
          </a:p>
        </p:txBody>
      </p:sp>
      <p:sp>
        <p:nvSpPr>
          <p:cNvPr id="31" name="Text 28"/>
          <p:cNvSpPr/>
          <p:nvPr/>
        </p:nvSpPr>
        <p:spPr>
          <a:xfrm>
            <a:off x="4927600" y="4191000"/>
            <a:ext cx="664514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C"/>
                </a:solidFill>
                <a:latin typeface="Public Sans" pitchFamily="34" charset="0"/>
                <a:ea typeface="Public Sans" pitchFamily="34" charset="-122"/>
                <a:cs typeface="Public Sans" pitchFamily="34" charset="-120"/>
              </a:rPr>
              <a:t>Asian cut-offs are lower: a BMI of 25 already counts as obese.</a:t>
            </a:r>
            <a:endParaRPr lang="en-US" sz="1400" dirty="0"/>
          </a:p>
        </p:txBody>
      </p:sp>
      <p:sp>
        <p:nvSpPr>
          <p:cNvPr id="32" name="Text 29"/>
          <p:cNvSpPr/>
          <p:nvPr/>
        </p:nvSpPr>
        <p:spPr>
          <a:xfrm>
            <a:off x="812800" y="52070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272B"/>
                </a:solidFill>
                <a:latin typeface="Public Sans" pitchFamily="34" charset="0"/>
                <a:ea typeface="Public Sans" pitchFamily="34" charset="-122"/>
                <a:cs typeface="Public Sans" pitchFamily="34" charset="-120"/>
              </a:rPr>
              <a:t>No automatic flag:</a:t>
            </a:r>
            <a:r>
              <a:rPr lang="en-US" sz="1400" dirty="0">
                <a:solidFill>
                  <a:srgbClr val="10272B"/>
                </a:solidFill>
                <a:latin typeface="Public Sans" pitchFamily="34" charset="0"/>
                <a:ea typeface="Public Sans" pitchFamily="34" charset="-122"/>
                <a:cs typeface="Public Sans" pitchFamily="34" charset="-120"/>
              </a:rPr>
              <a:t> heart rate and respiratory rate are stored and range-checked only. There is no SpO₂ field.</a:t>
            </a:r>
            <a:endParaRPr lang="en-US" sz="1400" dirty="0"/>
          </a:p>
        </p:txBody>
      </p:sp>
      <p:sp>
        <p:nvSpPr>
          <p:cNvPr id="33" name="Text 3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34" name="Text 3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4D8"/>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MATERNAL CARE · ANC</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Pregnancy: due date and risk at enrolment</a:t>
            </a:r>
            <a:endParaRPr lang="en-US" sz="3600" dirty="0"/>
          </a:p>
        </p:txBody>
      </p:sp>
      <p:sp>
        <p:nvSpPr>
          <p:cNvPr id="4" name="Shape 2"/>
          <p:cNvSpPr/>
          <p:nvPr/>
        </p:nvSpPr>
        <p:spPr>
          <a:xfrm>
            <a:off x="812800" y="1905000"/>
            <a:ext cx="4826000" cy="2483842"/>
          </a:xfrm>
          <a:prstGeom prst="roundRect">
            <a:avLst>
              <a:gd name="adj" fmla="val 5113"/>
            </a:avLst>
          </a:prstGeom>
          <a:solidFill>
            <a:srgbClr val="10272B"/>
          </a:solidFill>
          <a:ln/>
        </p:spPr>
      </p:sp>
      <p:sp>
        <p:nvSpPr>
          <p:cNvPr id="5" name="Text 3"/>
          <p:cNvSpPr/>
          <p:nvPr/>
        </p:nvSpPr>
        <p:spPr>
          <a:xfrm>
            <a:off x="1066800" y="2159000"/>
            <a:ext cx="44475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50"/>
                </a:solidFill>
                <a:latin typeface="Public Sans" pitchFamily="34" charset="0"/>
                <a:ea typeface="Public Sans" pitchFamily="34" charset="-122"/>
                <a:cs typeface="Public Sans" pitchFamily="34" charset="-120"/>
              </a:rPr>
              <a:t>NAEGELE’S RULE</a:t>
            </a:r>
            <a:endParaRPr lang="en-US" sz="1200" dirty="0"/>
          </a:p>
        </p:txBody>
      </p:sp>
      <p:sp>
        <p:nvSpPr>
          <p:cNvPr id="6" name="Text 4"/>
          <p:cNvSpPr/>
          <p:nvPr/>
        </p:nvSpPr>
        <p:spPr>
          <a:xfrm>
            <a:off x="1066800" y="2499320"/>
            <a:ext cx="4447540"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5F2EA"/>
                </a:solidFill>
                <a:latin typeface="Rubik" pitchFamily="34" charset="0"/>
                <a:ea typeface="Rubik" pitchFamily="34" charset="-122"/>
                <a:cs typeface="Rubik" pitchFamily="34" charset="-120"/>
              </a:rPr>
              <a:t>LMP + 1 year − 3 months + 7 days</a:t>
            </a:r>
            <a:endParaRPr lang="en-US" sz="2200" dirty="0"/>
          </a:p>
        </p:txBody>
      </p:sp>
      <p:sp>
        <p:nvSpPr>
          <p:cNvPr id="7" name="Text 5"/>
          <p:cNvSpPr/>
          <p:nvPr/>
        </p:nvSpPr>
        <p:spPr>
          <a:xfrm>
            <a:off x="1066800" y="3296841"/>
            <a:ext cx="444754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4C1"/>
                </a:solidFill>
                <a:latin typeface="JetBrains Mono" pitchFamily="49" charset="0"/>
                <a:ea typeface="JetBrains Mono" pitchFamily="49" charset="-122"/>
                <a:cs typeface="JetBrains Mono" pitchFamily="49" charset="-120"/>
              </a:rPr>
              <a:t>LMP 2026-01-15 → EDD 2026-10-22</a:t>
            </a:r>
            <a:endParaRPr lang="en-US" sz="1400" dirty="0"/>
          </a:p>
        </p:txBody>
      </p:sp>
      <p:sp>
        <p:nvSpPr>
          <p:cNvPr id="8" name="Text 6"/>
          <p:cNvSpPr/>
          <p:nvPr/>
        </p:nvSpPr>
        <p:spPr>
          <a:xfrm>
            <a:off x="1066800" y="3672681"/>
            <a:ext cx="444754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C4C1"/>
                </a:solidFill>
                <a:latin typeface="Public Sans" pitchFamily="34" charset="0"/>
                <a:ea typeface="Public Sans" pitchFamily="34" charset="-122"/>
                <a:cs typeface="Public Sans" pitchFamily="34" charset="-120"/>
              </a:rPr>
              <a:t>The nurse also records the obstetric history: gravida, para, full-term, preterm, abortions and living children.</a:t>
            </a:r>
            <a:endParaRPr lang="en-US" sz="1300" dirty="0"/>
          </a:p>
        </p:txBody>
      </p:sp>
      <p:sp>
        <p:nvSpPr>
          <p:cNvPr id="9" name="Shape 7"/>
          <p:cNvSpPr/>
          <p:nvPr/>
        </p:nvSpPr>
        <p:spPr>
          <a:xfrm>
            <a:off x="5943600" y="1905000"/>
            <a:ext cx="5435600" cy="861020"/>
          </a:xfrm>
          <a:prstGeom prst="roundRect">
            <a:avLst>
              <a:gd name="adj" fmla="val 14750"/>
            </a:avLst>
          </a:prstGeom>
          <a:solidFill>
            <a:srgbClr val="F5F2EA"/>
          </a:solidFill>
          <a:ln/>
        </p:spPr>
      </p:sp>
      <p:pic>
        <p:nvPicPr>
          <p:cNvPr id="10" name="Image 0" descr="Warning">    </p:cNvPr>
          <p:cNvPicPr>
            <a:picLocks noChangeAspect="1"/>
          </p:cNvPicPr>
          <p:nvPr/>
        </p:nvPicPr>
        <p:blipFill>
          <a:blip r:embed="rId1"/>
          <a:srcRect l="0" r="0" t="0" b="0"/>
          <a:stretch/>
        </p:blipFill>
        <p:spPr>
          <a:xfrm>
            <a:off x="6146800" y="2157710"/>
            <a:ext cx="355600" cy="355600"/>
          </a:xfrm>
          <a:prstGeom prst="rect">
            <a:avLst/>
          </a:prstGeom>
        </p:spPr>
      </p:pic>
      <p:sp>
        <p:nvSpPr>
          <p:cNvPr id="11" name="Text 8"/>
          <p:cNvSpPr/>
          <p:nvPr/>
        </p:nvSpPr>
        <p:spPr>
          <a:xfrm>
            <a:off x="6654800" y="2082800"/>
            <a:ext cx="188366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Mother under 18</a:t>
            </a:r>
            <a:endParaRPr lang="en-US" sz="1500" dirty="0"/>
          </a:p>
        </p:txBody>
      </p:sp>
      <p:sp>
        <p:nvSpPr>
          <p:cNvPr id="12" name="Text 9"/>
          <p:cNvSpPr/>
          <p:nvPr/>
        </p:nvSpPr>
        <p:spPr>
          <a:xfrm>
            <a:off x="6654800" y="2374900"/>
            <a:ext cx="2194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ADOLESCENT_PREGNANCY</a:t>
            </a:r>
            <a:endParaRPr lang="en-US" sz="1200" dirty="0"/>
          </a:p>
        </p:txBody>
      </p:sp>
      <p:sp>
        <p:nvSpPr>
          <p:cNvPr id="13" name="Shape 10"/>
          <p:cNvSpPr/>
          <p:nvPr/>
        </p:nvSpPr>
        <p:spPr>
          <a:xfrm>
            <a:off x="5943600" y="2857500"/>
            <a:ext cx="5435600" cy="861020"/>
          </a:xfrm>
          <a:prstGeom prst="roundRect">
            <a:avLst>
              <a:gd name="adj" fmla="val 14750"/>
            </a:avLst>
          </a:prstGeom>
          <a:solidFill>
            <a:srgbClr val="F5F2EA"/>
          </a:solidFill>
          <a:ln/>
        </p:spPr>
      </p:sp>
      <p:pic>
        <p:nvPicPr>
          <p:cNvPr id="14" name="Image 1" descr="Warning">    </p:cNvPr>
          <p:cNvPicPr>
            <a:picLocks noChangeAspect="1"/>
          </p:cNvPicPr>
          <p:nvPr/>
        </p:nvPicPr>
        <p:blipFill>
          <a:blip r:embed="rId2"/>
          <a:srcRect l="0" r="0" t="0" b="0"/>
          <a:stretch/>
        </p:blipFill>
        <p:spPr>
          <a:xfrm>
            <a:off x="6146800" y="3110210"/>
            <a:ext cx="355600" cy="355600"/>
          </a:xfrm>
          <a:prstGeom prst="rect">
            <a:avLst/>
          </a:prstGeom>
        </p:spPr>
      </p:pic>
      <p:sp>
        <p:nvSpPr>
          <p:cNvPr id="15" name="Text 11"/>
          <p:cNvSpPr/>
          <p:nvPr/>
        </p:nvSpPr>
        <p:spPr>
          <a:xfrm>
            <a:off x="6654800" y="3035300"/>
            <a:ext cx="197788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Mother 35 or older</a:t>
            </a:r>
            <a:endParaRPr lang="en-US" sz="1500" dirty="0"/>
          </a:p>
        </p:txBody>
      </p:sp>
      <p:sp>
        <p:nvSpPr>
          <p:cNvPr id="16" name="Text 12"/>
          <p:cNvSpPr/>
          <p:nvPr/>
        </p:nvSpPr>
        <p:spPr>
          <a:xfrm>
            <a:off x="6654800" y="3327400"/>
            <a:ext cx="23043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ADVANCED_MATERNAL_AGE</a:t>
            </a:r>
            <a:endParaRPr lang="en-US" sz="1200" dirty="0"/>
          </a:p>
        </p:txBody>
      </p:sp>
      <p:sp>
        <p:nvSpPr>
          <p:cNvPr id="17" name="Shape 13"/>
          <p:cNvSpPr/>
          <p:nvPr/>
        </p:nvSpPr>
        <p:spPr>
          <a:xfrm>
            <a:off x="5943600" y="3810000"/>
            <a:ext cx="5435600" cy="861020"/>
          </a:xfrm>
          <a:prstGeom prst="roundRect">
            <a:avLst>
              <a:gd name="adj" fmla="val 14750"/>
            </a:avLst>
          </a:prstGeom>
          <a:solidFill>
            <a:srgbClr val="F5F2EA"/>
          </a:solidFill>
          <a:ln/>
        </p:spPr>
      </p:sp>
      <p:pic>
        <p:nvPicPr>
          <p:cNvPr id="18" name="Image 2" descr="Warning">    </p:cNvPr>
          <p:cNvPicPr>
            <a:picLocks noChangeAspect="1"/>
          </p:cNvPicPr>
          <p:nvPr/>
        </p:nvPicPr>
        <p:blipFill>
          <a:blip r:embed="rId3"/>
          <a:srcRect l="0" r="0" t="0" b="0"/>
          <a:stretch/>
        </p:blipFill>
        <p:spPr>
          <a:xfrm>
            <a:off x="6146800" y="4062710"/>
            <a:ext cx="355600" cy="355600"/>
          </a:xfrm>
          <a:prstGeom prst="rect">
            <a:avLst/>
          </a:prstGeom>
        </p:spPr>
      </p:pic>
      <p:sp>
        <p:nvSpPr>
          <p:cNvPr id="19" name="Text 14"/>
          <p:cNvSpPr/>
          <p:nvPr/>
        </p:nvSpPr>
        <p:spPr>
          <a:xfrm>
            <a:off x="6654800" y="3987800"/>
            <a:ext cx="271914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272B"/>
                </a:solidFill>
                <a:latin typeface="Public Sans" pitchFamily="34" charset="0"/>
                <a:ea typeface="Public Sans" pitchFamily="34" charset="-122"/>
                <a:cs typeface="Public Sans" pitchFamily="34" charset="-120"/>
              </a:rPr>
              <a:t>Gravida or para 5 or more</a:t>
            </a:r>
            <a:endParaRPr lang="en-US" sz="1500" dirty="0"/>
          </a:p>
        </p:txBody>
      </p:sp>
      <p:sp>
        <p:nvSpPr>
          <p:cNvPr id="20" name="Text 15"/>
          <p:cNvSpPr/>
          <p:nvPr/>
        </p:nvSpPr>
        <p:spPr>
          <a:xfrm>
            <a:off x="6654800" y="4279900"/>
            <a:ext cx="23339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JetBrains Mono" pitchFamily="49" charset="0"/>
                <a:ea typeface="JetBrains Mono" pitchFamily="49" charset="-122"/>
                <a:cs typeface="JetBrains Mono" pitchFamily="49" charset="-120"/>
              </a:rPr>
              <a:t>GRAND_MULTIPARITY</a:t>
            </a:r>
            <a:endParaRPr lang="en-US" sz="1200" dirty="0"/>
          </a:p>
        </p:txBody>
      </p:sp>
      <p:sp>
        <p:nvSpPr>
          <p:cNvPr id="21" name="Text 16"/>
          <p:cNvSpPr/>
          <p:nvPr/>
        </p:nvSpPr>
        <p:spPr>
          <a:xfrm>
            <a:off x="812800" y="5058370"/>
            <a:ext cx="1120080"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0272B"/>
                </a:solidFill>
                <a:latin typeface="Public Sans" pitchFamily="34" charset="0"/>
                <a:ea typeface="Public Sans" pitchFamily="34" charset="-122"/>
                <a:cs typeface="Public Sans" pitchFamily="34" charset="-120"/>
              </a:rPr>
              <a:t>4 ANC visits:</a:t>
            </a:r>
            <a:endParaRPr lang="en-US" sz="1400" dirty="0"/>
          </a:p>
        </p:txBody>
      </p:sp>
      <p:sp>
        <p:nvSpPr>
          <p:cNvPr id="22" name="Text 17"/>
          <p:cNvSpPr/>
          <p:nvPr/>
        </p:nvSpPr>
        <p:spPr>
          <a:xfrm>
            <a:off x="1983680" y="5016500"/>
            <a:ext cx="752673" cy="332680"/>
          </a:xfrm>
          <a:prstGeom prst="roundRect">
            <a:avLst>
              <a:gd name="adj" fmla="val 50000"/>
            </a:avLst>
          </a:prstGeom>
          <a:solidFill>
            <a:srgbClr val="F5F2EA"/>
          </a:solidFill>
          <a:ln/>
        </p:spPr>
        <p:txBody>
          <a:bodyPr wrap="none" lIns="0" tIns="0" rIns="0" bIns="0" rtlCol="0" anchor="ctr">
            <a:normAutofit/>
          </a:bodyPr>
          <a:lstStyle/>
          <a:p>
            <a:pPr algn="ctr"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Visit 1</a:t>
            </a:r>
            <a:endParaRPr lang="en-US" sz="1300" dirty="0"/>
          </a:p>
        </p:txBody>
      </p:sp>
      <p:sp>
        <p:nvSpPr>
          <p:cNvPr id="23" name="Text 18"/>
          <p:cNvSpPr/>
          <p:nvPr/>
        </p:nvSpPr>
        <p:spPr>
          <a:xfrm>
            <a:off x="2837954" y="5016500"/>
            <a:ext cx="783927" cy="332680"/>
          </a:xfrm>
          <a:prstGeom prst="roundRect">
            <a:avLst>
              <a:gd name="adj" fmla="val 50000"/>
            </a:avLst>
          </a:prstGeom>
          <a:solidFill>
            <a:srgbClr val="F5F2EA"/>
          </a:solidFill>
          <a:ln/>
        </p:spPr>
        <p:txBody>
          <a:bodyPr wrap="none" lIns="0" tIns="0" rIns="0" bIns="0" rtlCol="0" anchor="ctr">
            <a:normAutofit/>
          </a:bodyPr>
          <a:lstStyle/>
          <a:p>
            <a:pPr algn="ctr"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Visit 2</a:t>
            </a:r>
            <a:endParaRPr lang="en-US" sz="1300" dirty="0"/>
          </a:p>
        </p:txBody>
      </p:sp>
      <p:sp>
        <p:nvSpPr>
          <p:cNvPr id="24" name="Text 19"/>
          <p:cNvSpPr/>
          <p:nvPr/>
        </p:nvSpPr>
        <p:spPr>
          <a:xfrm>
            <a:off x="3723481" y="5016500"/>
            <a:ext cx="789484" cy="332680"/>
          </a:xfrm>
          <a:prstGeom prst="roundRect">
            <a:avLst>
              <a:gd name="adj" fmla="val 50000"/>
            </a:avLst>
          </a:prstGeom>
          <a:solidFill>
            <a:srgbClr val="F5F2EA"/>
          </a:solidFill>
          <a:ln/>
        </p:spPr>
        <p:txBody>
          <a:bodyPr wrap="none" lIns="0" tIns="0" rIns="0" bIns="0" rtlCol="0" anchor="ctr">
            <a:normAutofit/>
          </a:bodyPr>
          <a:lstStyle/>
          <a:p>
            <a:pPr algn="ctr"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Visit 3</a:t>
            </a:r>
            <a:endParaRPr lang="en-US" sz="1300" dirty="0"/>
          </a:p>
        </p:txBody>
      </p:sp>
      <p:sp>
        <p:nvSpPr>
          <p:cNvPr id="25" name="Text 20"/>
          <p:cNvSpPr/>
          <p:nvPr/>
        </p:nvSpPr>
        <p:spPr>
          <a:xfrm>
            <a:off x="4614565" y="5016500"/>
            <a:ext cx="789285" cy="332680"/>
          </a:xfrm>
          <a:prstGeom prst="roundRect">
            <a:avLst>
              <a:gd name="adj" fmla="val 50000"/>
            </a:avLst>
          </a:prstGeom>
          <a:solidFill>
            <a:srgbClr val="2A8C8C"/>
          </a:solidFill>
          <a:ln/>
        </p:spPr>
        <p:txBody>
          <a:bodyPr wrap="none" lIns="0" tIns="0" rIns="0" bIns="0" rtlCol="0" anchor="ctr">
            <a:normAutofit/>
          </a:bodyPr>
          <a:lstStyle/>
          <a:p>
            <a:pPr algn="ctr" indent="0" marL="0">
              <a:lnSpc>
                <a:spcPts val="1820"/>
              </a:lnSpc>
              <a:buNone/>
            </a:pPr>
            <a:r>
              <a:rPr lang="en-US" sz="1300" dirty="0">
                <a:solidFill>
                  <a:srgbClr val="F5F2EA"/>
                </a:solidFill>
                <a:latin typeface="Public Sans" pitchFamily="34" charset="0"/>
                <a:ea typeface="Public Sans" pitchFamily="34" charset="-122"/>
                <a:cs typeface="Public Sans" pitchFamily="34" charset="-120"/>
              </a:rPr>
              <a:t>Visit 4</a:t>
            </a:r>
            <a:endParaRPr lang="en-US" sz="1300" dirty="0"/>
          </a:p>
        </p:txBody>
      </p:sp>
      <p:sp>
        <p:nvSpPr>
          <p:cNvPr id="26" name="Text 21"/>
          <p:cNvSpPr/>
          <p:nvPr/>
        </p:nvSpPr>
        <p:spPr>
          <a:xfrm>
            <a:off x="5505450" y="5067300"/>
            <a:ext cx="514707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C"/>
                </a:solidFill>
                <a:latin typeface="Public Sans" pitchFamily="34" charset="0"/>
                <a:ea typeface="Public Sans" pitchFamily="34" charset="-122"/>
                <a:cs typeface="Public Sans" pitchFamily="34" charset="-120"/>
              </a:rPr>
              <a:t>BP, weight, fundic height, fetal heart tone, iron-folic acid</a:t>
            </a:r>
            <a:endParaRPr lang="en-US" sz="1300" dirty="0"/>
          </a:p>
        </p:txBody>
      </p:sp>
      <p:sp>
        <p:nvSpPr>
          <p:cNvPr id="27" name="Text 2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28"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CHILD EPI</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14 vaccine doses in the first year</a:t>
            </a:r>
            <a:endParaRPr lang="en-US" sz="3600" dirty="0"/>
          </a:p>
        </p:txBody>
      </p:sp>
      <p:sp>
        <p:nvSpPr>
          <p:cNvPr id="4" name="Shape 2"/>
          <p:cNvSpPr/>
          <p:nvPr/>
        </p:nvSpPr>
        <p:spPr>
          <a:xfrm>
            <a:off x="1689100" y="2527300"/>
            <a:ext cx="8813800" cy="25400"/>
          </a:xfrm>
          <a:prstGeom prst="rect">
            <a:avLst/>
          </a:prstGeom>
          <a:solidFill>
            <a:srgbClr val="10272B"/>
          </a:solidFill>
          <a:ln/>
        </p:spPr>
      </p:sp>
      <p:sp>
        <p:nvSpPr>
          <p:cNvPr id="5" name="Text 3"/>
          <p:cNvSpPr/>
          <p:nvPr/>
        </p:nvSpPr>
        <p:spPr>
          <a:xfrm>
            <a:off x="1388547" y="2032000"/>
            <a:ext cx="607457"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0272B"/>
                </a:solidFill>
                <a:latin typeface="Rubik" pitchFamily="34" charset="0"/>
                <a:ea typeface="Rubik" pitchFamily="34" charset="-122"/>
                <a:cs typeface="Rubik" pitchFamily="34" charset="-120"/>
              </a:rPr>
              <a:t>Birth</a:t>
            </a:r>
            <a:endParaRPr lang="en-US" sz="1600" dirty="0"/>
          </a:p>
        </p:txBody>
      </p:sp>
      <p:sp>
        <p:nvSpPr>
          <p:cNvPr id="6" name="Shape 4"/>
          <p:cNvSpPr/>
          <p:nvPr/>
        </p:nvSpPr>
        <p:spPr>
          <a:xfrm>
            <a:off x="1552575" y="2430760"/>
            <a:ext cx="279400" cy="279400"/>
          </a:xfrm>
          <a:prstGeom prst="roundRect">
            <a:avLst>
              <a:gd name="adj" fmla="val 50000"/>
            </a:avLst>
          </a:prstGeom>
          <a:solidFill>
            <a:srgbClr val="E2703A"/>
          </a:solidFill>
          <a:ln w="25400">
            <a:solidFill>
              <a:srgbClr val="10272B"/>
            </a:solidFill>
            <a:prstDash val="solid"/>
          </a:ln>
        </p:spPr>
      </p:sp>
      <p:sp>
        <p:nvSpPr>
          <p:cNvPr id="7" name="Text 5"/>
          <p:cNvSpPr/>
          <p:nvPr/>
        </p:nvSpPr>
        <p:spPr>
          <a:xfrm>
            <a:off x="1433413" y="2824460"/>
            <a:ext cx="517723" cy="520700"/>
          </a:xfrm>
          <a:prstGeom prst="rect">
            <a:avLst/>
          </a:prstGeom>
          <a:noFill/>
          <a:ln/>
        </p:spPr>
        <p:txBody>
          <a:bodyPr wrap="square" lIns="0" tIns="0" rIns="0" bIns="0" rtlCol="0" anchor="t">
            <a:normAutofit/>
          </a:bodyPr>
          <a:lstStyle/>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BCG</a:t>
            </a:r>
            <a:endParaRPr lang="en-US" sz="1300" dirty="0"/>
          </a:p>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Hep B</a:t>
            </a:r>
            <a:endParaRPr lang="en-US" sz="1300" dirty="0"/>
          </a:p>
        </p:txBody>
      </p:sp>
      <p:sp>
        <p:nvSpPr>
          <p:cNvPr id="8" name="Text 6"/>
          <p:cNvSpPr/>
          <p:nvPr/>
        </p:nvSpPr>
        <p:spPr>
          <a:xfrm>
            <a:off x="2973308" y="2032000"/>
            <a:ext cx="955834"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0272B"/>
                </a:solidFill>
                <a:latin typeface="Rubik" pitchFamily="34" charset="0"/>
                <a:ea typeface="Rubik" pitchFamily="34" charset="-122"/>
                <a:cs typeface="Rubik" pitchFamily="34" charset="-120"/>
              </a:rPr>
              <a:t>6 weeks</a:t>
            </a:r>
            <a:endParaRPr lang="en-US" sz="1600" dirty="0"/>
          </a:p>
        </p:txBody>
      </p:sp>
      <p:sp>
        <p:nvSpPr>
          <p:cNvPr id="9" name="Shape 7"/>
          <p:cNvSpPr/>
          <p:nvPr/>
        </p:nvSpPr>
        <p:spPr>
          <a:xfrm>
            <a:off x="3311525" y="2430760"/>
            <a:ext cx="279400" cy="279400"/>
          </a:xfrm>
          <a:prstGeom prst="roundRect">
            <a:avLst>
              <a:gd name="adj" fmla="val 50000"/>
            </a:avLst>
          </a:prstGeom>
          <a:solidFill>
            <a:srgbClr val="E2703A"/>
          </a:solidFill>
          <a:ln w="25400">
            <a:solidFill>
              <a:srgbClr val="10272B"/>
            </a:solidFill>
            <a:prstDash val="solid"/>
          </a:ln>
        </p:spPr>
      </p:sp>
      <p:sp>
        <p:nvSpPr>
          <p:cNvPr id="10" name="Text 8"/>
          <p:cNvSpPr/>
          <p:nvPr/>
        </p:nvSpPr>
        <p:spPr>
          <a:xfrm>
            <a:off x="3150195" y="2824460"/>
            <a:ext cx="602059" cy="768350"/>
          </a:xfrm>
          <a:prstGeom prst="rect">
            <a:avLst/>
          </a:prstGeom>
          <a:noFill/>
          <a:ln/>
        </p:spPr>
        <p:txBody>
          <a:bodyPr wrap="square" lIns="0" tIns="0" rIns="0" bIns="0" rtlCol="0" anchor="t">
            <a:normAutofit/>
          </a:bodyPr>
          <a:lstStyle/>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Penta 1</a:t>
            </a:r>
            <a:endParaRPr lang="en-US" sz="1300" dirty="0"/>
          </a:p>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OPV 1</a:t>
            </a:r>
            <a:endParaRPr lang="en-US" sz="1300" dirty="0"/>
          </a:p>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PCV 1</a:t>
            </a:r>
            <a:endParaRPr lang="en-US" sz="1300" dirty="0"/>
          </a:p>
        </p:txBody>
      </p:sp>
      <p:sp>
        <p:nvSpPr>
          <p:cNvPr id="11" name="Text 9"/>
          <p:cNvSpPr/>
          <p:nvPr/>
        </p:nvSpPr>
        <p:spPr>
          <a:xfrm>
            <a:off x="4670227" y="2032000"/>
            <a:ext cx="1079897"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0272B"/>
                </a:solidFill>
                <a:latin typeface="Rubik" pitchFamily="34" charset="0"/>
                <a:ea typeface="Rubik" pitchFamily="34" charset="-122"/>
                <a:cs typeface="Rubik" pitchFamily="34" charset="-120"/>
              </a:rPr>
              <a:t>10 weeks</a:t>
            </a:r>
            <a:endParaRPr lang="en-US" sz="1600" dirty="0"/>
          </a:p>
        </p:txBody>
      </p:sp>
      <p:sp>
        <p:nvSpPr>
          <p:cNvPr id="12" name="Shape 10"/>
          <p:cNvSpPr/>
          <p:nvPr/>
        </p:nvSpPr>
        <p:spPr>
          <a:xfrm>
            <a:off x="5070475" y="2430760"/>
            <a:ext cx="279400" cy="279400"/>
          </a:xfrm>
          <a:prstGeom prst="roundRect">
            <a:avLst>
              <a:gd name="adj" fmla="val 50000"/>
            </a:avLst>
          </a:prstGeom>
          <a:solidFill>
            <a:srgbClr val="E2703A"/>
          </a:solidFill>
          <a:ln w="25400">
            <a:solidFill>
              <a:srgbClr val="10272B"/>
            </a:solidFill>
            <a:prstDash val="solid"/>
          </a:ln>
        </p:spPr>
      </p:sp>
      <p:sp>
        <p:nvSpPr>
          <p:cNvPr id="13" name="Text 11"/>
          <p:cNvSpPr/>
          <p:nvPr/>
        </p:nvSpPr>
        <p:spPr>
          <a:xfrm>
            <a:off x="4893568" y="2824460"/>
            <a:ext cx="633214" cy="768350"/>
          </a:xfrm>
          <a:prstGeom prst="rect">
            <a:avLst/>
          </a:prstGeom>
          <a:noFill/>
          <a:ln/>
        </p:spPr>
        <p:txBody>
          <a:bodyPr wrap="square" lIns="0" tIns="0" rIns="0" bIns="0" rtlCol="0" anchor="t">
            <a:normAutofit/>
          </a:bodyPr>
          <a:lstStyle/>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Penta 2</a:t>
            </a:r>
            <a:endParaRPr lang="en-US" sz="1300" dirty="0"/>
          </a:p>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OPV 2</a:t>
            </a:r>
            <a:endParaRPr lang="en-US" sz="1300" dirty="0"/>
          </a:p>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PCV 2</a:t>
            </a:r>
            <a:endParaRPr lang="en-US" sz="1300" dirty="0"/>
          </a:p>
        </p:txBody>
      </p:sp>
      <p:sp>
        <p:nvSpPr>
          <p:cNvPr id="14" name="Text 12"/>
          <p:cNvSpPr/>
          <p:nvPr/>
        </p:nvSpPr>
        <p:spPr>
          <a:xfrm>
            <a:off x="6435646" y="2032000"/>
            <a:ext cx="1079659"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0272B"/>
                </a:solidFill>
                <a:latin typeface="Rubik" pitchFamily="34" charset="0"/>
                <a:ea typeface="Rubik" pitchFamily="34" charset="-122"/>
                <a:cs typeface="Rubik" pitchFamily="34" charset="-120"/>
              </a:rPr>
              <a:t>14 weeks</a:t>
            </a:r>
            <a:endParaRPr lang="en-US" sz="1600" dirty="0"/>
          </a:p>
        </p:txBody>
      </p:sp>
      <p:sp>
        <p:nvSpPr>
          <p:cNvPr id="15" name="Shape 13"/>
          <p:cNvSpPr/>
          <p:nvPr/>
        </p:nvSpPr>
        <p:spPr>
          <a:xfrm>
            <a:off x="6835775" y="2430760"/>
            <a:ext cx="279400" cy="279400"/>
          </a:xfrm>
          <a:prstGeom prst="roundRect">
            <a:avLst>
              <a:gd name="adj" fmla="val 50000"/>
            </a:avLst>
          </a:prstGeom>
          <a:solidFill>
            <a:srgbClr val="E2703A"/>
          </a:solidFill>
          <a:ln w="25400">
            <a:solidFill>
              <a:srgbClr val="10272B"/>
            </a:solidFill>
            <a:prstDash val="solid"/>
          </a:ln>
        </p:spPr>
      </p:sp>
      <p:sp>
        <p:nvSpPr>
          <p:cNvPr id="16" name="Text 14"/>
          <p:cNvSpPr/>
          <p:nvPr/>
        </p:nvSpPr>
        <p:spPr>
          <a:xfrm>
            <a:off x="6655991" y="2824460"/>
            <a:ext cx="638870" cy="1016000"/>
          </a:xfrm>
          <a:prstGeom prst="rect">
            <a:avLst/>
          </a:prstGeom>
          <a:noFill/>
          <a:ln/>
        </p:spPr>
        <p:txBody>
          <a:bodyPr wrap="square" lIns="0" tIns="0" rIns="0" bIns="0" rtlCol="0" anchor="t">
            <a:normAutofit/>
          </a:bodyPr>
          <a:lstStyle/>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Penta 3</a:t>
            </a:r>
            <a:endParaRPr lang="en-US" sz="1300" dirty="0"/>
          </a:p>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OPV 3</a:t>
            </a:r>
            <a:endParaRPr lang="en-US" sz="1300" dirty="0"/>
          </a:p>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IPV</a:t>
            </a:r>
            <a:endParaRPr lang="en-US" sz="1300" dirty="0"/>
          </a:p>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PCV 3</a:t>
            </a:r>
            <a:endParaRPr lang="en-US" sz="1300" dirty="0"/>
          </a:p>
        </p:txBody>
      </p:sp>
      <p:sp>
        <p:nvSpPr>
          <p:cNvPr id="17" name="Text 15"/>
          <p:cNvSpPr/>
          <p:nvPr/>
        </p:nvSpPr>
        <p:spPr>
          <a:xfrm>
            <a:off x="8171617" y="2032000"/>
            <a:ext cx="1125617"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0272B"/>
                </a:solidFill>
                <a:latin typeface="Rubik" pitchFamily="34" charset="0"/>
                <a:ea typeface="Rubik" pitchFamily="34" charset="-122"/>
                <a:cs typeface="Rubik" pitchFamily="34" charset="-120"/>
              </a:rPr>
              <a:t>9 months</a:t>
            </a:r>
            <a:endParaRPr lang="en-US" sz="1600" dirty="0"/>
          </a:p>
        </p:txBody>
      </p:sp>
      <p:sp>
        <p:nvSpPr>
          <p:cNvPr id="18" name="Shape 16"/>
          <p:cNvSpPr/>
          <p:nvPr/>
        </p:nvSpPr>
        <p:spPr>
          <a:xfrm>
            <a:off x="8594725" y="2430760"/>
            <a:ext cx="279400" cy="279400"/>
          </a:xfrm>
          <a:prstGeom prst="roundRect">
            <a:avLst>
              <a:gd name="adj" fmla="val 50000"/>
            </a:avLst>
          </a:prstGeom>
          <a:solidFill>
            <a:srgbClr val="E2703A"/>
          </a:solidFill>
          <a:ln w="25400">
            <a:solidFill>
              <a:srgbClr val="10272B"/>
            </a:solidFill>
            <a:prstDash val="solid"/>
          </a:ln>
        </p:spPr>
      </p:sp>
      <p:sp>
        <p:nvSpPr>
          <p:cNvPr id="19" name="Text 17"/>
          <p:cNvSpPr/>
          <p:nvPr/>
        </p:nvSpPr>
        <p:spPr>
          <a:xfrm>
            <a:off x="7960529" y="2824460"/>
            <a:ext cx="1547693" cy="273050"/>
          </a:xfrm>
          <a:prstGeom prst="rect">
            <a:avLst/>
          </a:prstGeom>
          <a:noFill/>
          <a:ln/>
        </p:spPr>
        <p:txBody>
          <a:bodyPr wrap="square" lIns="0" tIns="0" rIns="0" bIns="0" rtlCol="0" anchor="t">
            <a:normAutofit/>
          </a:bodyPr>
          <a:lstStyle/>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Measles-Rubella</a:t>
            </a:r>
            <a:endParaRPr lang="en-US" sz="1300" dirty="0"/>
          </a:p>
        </p:txBody>
      </p:sp>
      <p:sp>
        <p:nvSpPr>
          <p:cNvPr id="20" name="Text 18"/>
          <p:cNvSpPr/>
          <p:nvPr/>
        </p:nvSpPr>
        <p:spPr>
          <a:xfrm>
            <a:off x="9871521" y="2032000"/>
            <a:ext cx="1243608"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0272B"/>
                </a:solidFill>
                <a:latin typeface="Rubik" pitchFamily="34" charset="0"/>
                <a:ea typeface="Rubik" pitchFamily="34" charset="-122"/>
                <a:cs typeface="Rubik" pitchFamily="34" charset="-120"/>
              </a:rPr>
              <a:t>12 months</a:t>
            </a:r>
            <a:endParaRPr lang="en-US" sz="1600" dirty="0"/>
          </a:p>
        </p:txBody>
      </p:sp>
      <p:sp>
        <p:nvSpPr>
          <p:cNvPr id="21" name="Shape 19"/>
          <p:cNvSpPr/>
          <p:nvPr/>
        </p:nvSpPr>
        <p:spPr>
          <a:xfrm>
            <a:off x="10353675" y="2430760"/>
            <a:ext cx="279400" cy="279400"/>
          </a:xfrm>
          <a:prstGeom prst="roundRect">
            <a:avLst>
              <a:gd name="adj" fmla="val 50000"/>
            </a:avLst>
          </a:prstGeom>
          <a:solidFill>
            <a:srgbClr val="E2703A"/>
          </a:solidFill>
          <a:ln w="25400">
            <a:solidFill>
              <a:srgbClr val="10272B"/>
            </a:solidFill>
            <a:prstDash val="solid"/>
          </a:ln>
        </p:spPr>
      </p:sp>
      <p:sp>
        <p:nvSpPr>
          <p:cNvPr id="22" name="Text 20"/>
          <p:cNvSpPr/>
          <p:nvPr/>
        </p:nvSpPr>
        <p:spPr>
          <a:xfrm>
            <a:off x="9874964" y="2824460"/>
            <a:ext cx="1236821" cy="273050"/>
          </a:xfrm>
          <a:prstGeom prst="rect">
            <a:avLst/>
          </a:prstGeom>
          <a:noFill/>
          <a:ln/>
        </p:spPr>
        <p:txBody>
          <a:bodyPr wrap="square" lIns="0" tIns="0" rIns="0" bIns="0" rtlCol="0" anchor="t">
            <a:normAutofit/>
          </a:bodyPr>
          <a:lstStyle/>
          <a:p>
            <a:pPr algn="ctr" indent="0" marL="0">
              <a:lnSpc>
                <a:spcPts val="1950"/>
              </a:lnSpc>
              <a:buNone/>
            </a:pPr>
            <a:r>
              <a:rPr lang="en-US" sz="1300" dirty="0">
                <a:solidFill>
                  <a:srgbClr val="10272B"/>
                </a:solidFill>
                <a:latin typeface="Public Sans" pitchFamily="34" charset="0"/>
                <a:ea typeface="Public Sans" pitchFamily="34" charset="-122"/>
                <a:cs typeface="Public Sans" pitchFamily="34" charset="-120"/>
              </a:rPr>
              <a:t>MMR booster</a:t>
            </a:r>
            <a:endParaRPr lang="en-US" sz="1300" dirty="0"/>
          </a:p>
        </p:txBody>
      </p:sp>
      <p:sp>
        <p:nvSpPr>
          <p:cNvPr id="23" name="Shape 21"/>
          <p:cNvSpPr/>
          <p:nvPr/>
        </p:nvSpPr>
        <p:spPr>
          <a:xfrm>
            <a:off x="812800" y="4318000"/>
            <a:ext cx="5181600" cy="1399282"/>
          </a:xfrm>
          <a:prstGeom prst="roundRect">
            <a:avLst>
              <a:gd name="adj" fmla="val 9076"/>
            </a:avLst>
          </a:prstGeom>
          <a:solidFill>
            <a:srgbClr val="10272B"/>
          </a:solidFill>
          <a:ln/>
        </p:spPr>
      </p:sp>
      <p:pic>
        <p:nvPicPr>
          <p:cNvPr id="24" name="Image 0" descr="Search">    </p:cNvPr>
          <p:cNvPicPr>
            <a:picLocks noChangeAspect="1"/>
          </p:cNvPicPr>
          <p:nvPr/>
        </p:nvPicPr>
        <p:blipFill>
          <a:blip r:embed="rId1"/>
          <a:srcRect l="-219" r="-219" t="0" b="0"/>
          <a:stretch/>
        </p:blipFill>
        <p:spPr>
          <a:xfrm>
            <a:off x="1016000" y="4521200"/>
            <a:ext cx="159445" cy="304800"/>
          </a:xfrm>
          <a:prstGeom prst="rect">
            <a:avLst/>
          </a:prstGeom>
        </p:spPr>
      </p:pic>
      <p:sp>
        <p:nvSpPr>
          <p:cNvPr id="25" name="Text 22"/>
          <p:cNvSpPr/>
          <p:nvPr/>
        </p:nvSpPr>
        <p:spPr>
          <a:xfrm>
            <a:off x="1302445" y="4521200"/>
            <a:ext cx="462341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Public Sans" pitchFamily="34" charset="0"/>
                <a:ea typeface="Public Sans" pitchFamily="34" charset="-122"/>
                <a:cs typeface="Public Sans" pitchFamily="34" charset="-120"/>
              </a:rPr>
              <a:t>Defaulter</a:t>
            </a:r>
            <a:endParaRPr lang="en-US" sz="1400" dirty="0"/>
          </a:p>
        </p:txBody>
      </p:sp>
      <p:sp>
        <p:nvSpPr>
          <p:cNvPr id="26" name="Text 23"/>
          <p:cNvSpPr/>
          <p:nvPr/>
        </p:nvSpPr>
        <p:spPr>
          <a:xfrm>
            <a:off x="1302445" y="4820841"/>
            <a:ext cx="462341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C4C1"/>
                </a:solidFill>
                <a:latin typeface="Public Sans" pitchFamily="34" charset="0"/>
                <a:ea typeface="Public Sans" pitchFamily="34" charset="-122"/>
                <a:cs typeface="Public Sans" pitchFamily="34" charset="-120"/>
              </a:rPr>
              <a:t>Child is past the target age and the dose is not given. Listed with weeks overdue and purok for a BHW home visit.</a:t>
            </a:r>
            <a:endParaRPr lang="en-US" sz="1300" dirty="0"/>
          </a:p>
        </p:txBody>
      </p:sp>
      <p:sp>
        <p:nvSpPr>
          <p:cNvPr id="27" name="Shape 24"/>
          <p:cNvSpPr/>
          <p:nvPr/>
        </p:nvSpPr>
        <p:spPr>
          <a:xfrm>
            <a:off x="6197600" y="4318000"/>
            <a:ext cx="5181600" cy="1168202"/>
          </a:xfrm>
          <a:prstGeom prst="roundRect">
            <a:avLst>
              <a:gd name="adj" fmla="val 10871"/>
            </a:avLst>
          </a:prstGeom>
          <a:solidFill>
            <a:srgbClr val="DCEBE3"/>
          </a:solidFill>
          <a:ln/>
        </p:spPr>
      </p:sp>
      <p:pic>
        <p:nvPicPr>
          <p:cNvPr id="28" name="Image 1" descr="CheckCircle">    </p:cNvPr>
          <p:cNvPicPr>
            <a:picLocks noChangeAspect="1"/>
          </p:cNvPicPr>
          <p:nvPr/>
        </p:nvPicPr>
        <p:blipFill>
          <a:blip r:embed="rId2"/>
          <a:srcRect l="0" r="0" t="-100" b="-100"/>
          <a:stretch/>
        </p:blipFill>
        <p:spPr>
          <a:xfrm>
            <a:off x="6400800" y="4521200"/>
            <a:ext cx="247154" cy="304800"/>
          </a:xfrm>
          <a:prstGeom prst="rect">
            <a:avLst/>
          </a:prstGeom>
        </p:spPr>
      </p:pic>
      <p:sp>
        <p:nvSpPr>
          <p:cNvPr id="29" name="Text 25"/>
          <p:cNvSpPr/>
          <p:nvPr/>
        </p:nvSpPr>
        <p:spPr>
          <a:xfrm>
            <a:off x="6774954" y="4521200"/>
            <a:ext cx="453307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272B"/>
                </a:solidFill>
                <a:latin typeface="Public Sans" pitchFamily="34" charset="0"/>
                <a:ea typeface="Public Sans" pitchFamily="34" charset="-122"/>
                <a:cs typeface="Public Sans" pitchFamily="34" charset="-120"/>
              </a:rPr>
              <a:t>Fully immunized child</a:t>
            </a:r>
            <a:endParaRPr lang="en-US" sz="1400" dirty="0"/>
          </a:p>
        </p:txBody>
      </p:sp>
      <p:sp>
        <p:nvSpPr>
          <p:cNvPr id="30" name="Text 26"/>
          <p:cNvSpPr/>
          <p:nvPr/>
        </p:nvSpPr>
        <p:spPr>
          <a:xfrm>
            <a:off x="6774954" y="4820841"/>
            <a:ext cx="453307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All 9 core doses: BCG, Hep B, Penta 1–3, OPV 1–3 and Measles-Rubella.</a:t>
            </a:r>
            <a:endParaRPr lang="en-US" sz="1300" dirty="0"/>
          </a:p>
        </p:txBody>
      </p:sp>
      <p:sp>
        <p:nvSpPr>
          <p:cNvPr id="31" name="Text 2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32"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EPIDEMIOLOGY ANALYTICS</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How surveillance counts illness from vitals</a:t>
            </a:r>
            <a:endParaRPr lang="en-US" sz="3600" dirty="0"/>
          </a:p>
        </p:txBody>
      </p:sp>
      <p:pic>
        <p:nvPicPr>
          <p:cNvPr id="4" name="Image 0" descr="connector">    </p:cNvPr>
          <p:cNvPicPr>
            <a:picLocks noChangeAspect="1"/>
          </p:cNvPicPr>
          <p:nvPr/>
        </p:nvPicPr>
        <p:blipFill>
          <a:blip r:embed="rId1"/>
          <a:srcRect l="0" r="0" t="0" b="0"/>
          <a:stretch/>
        </p:blipFill>
        <p:spPr>
          <a:xfrm>
            <a:off x="2921000" y="2203450"/>
            <a:ext cx="685800" cy="1149350"/>
          </a:xfrm>
          <a:prstGeom prst="rect">
            <a:avLst/>
          </a:prstGeom>
        </p:spPr>
      </p:pic>
      <p:pic>
        <p:nvPicPr>
          <p:cNvPr id="5" name="Image 1" descr="connector">    </p:cNvPr>
          <p:cNvPicPr>
            <a:picLocks noChangeAspect="1"/>
          </p:cNvPicPr>
          <p:nvPr/>
        </p:nvPicPr>
        <p:blipFill>
          <a:blip r:embed="rId2"/>
          <a:srcRect l="0" r="0" t="0" b="0"/>
          <a:stretch/>
        </p:blipFill>
        <p:spPr>
          <a:xfrm>
            <a:off x="2921000" y="3251200"/>
            <a:ext cx="685800" cy="101600"/>
          </a:xfrm>
          <a:prstGeom prst="rect">
            <a:avLst/>
          </a:prstGeom>
        </p:spPr>
      </p:pic>
      <p:pic>
        <p:nvPicPr>
          <p:cNvPr id="6" name="Image 2" descr="connector">    </p:cNvPr>
          <p:cNvPicPr>
            <a:picLocks noChangeAspect="1"/>
          </p:cNvPicPr>
          <p:nvPr/>
        </p:nvPicPr>
        <p:blipFill>
          <a:blip r:embed="rId3"/>
          <a:srcRect l="0" r="0" t="0" b="0"/>
          <a:stretch/>
        </p:blipFill>
        <p:spPr>
          <a:xfrm>
            <a:off x="2921000" y="3251200"/>
            <a:ext cx="685800" cy="1212850"/>
          </a:xfrm>
          <a:prstGeom prst="rect">
            <a:avLst/>
          </a:prstGeom>
        </p:spPr>
      </p:pic>
      <p:pic>
        <p:nvPicPr>
          <p:cNvPr id="7" name="Image 3" descr="connector">    </p:cNvPr>
          <p:cNvPicPr>
            <a:picLocks noChangeAspect="1"/>
          </p:cNvPicPr>
          <p:nvPr/>
        </p:nvPicPr>
        <p:blipFill>
          <a:blip r:embed="rId4"/>
          <a:srcRect l="0" r="0" t="0" b="0"/>
          <a:stretch/>
        </p:blipFill>
        <p:spPr>
          <a:xfrm>
            <a:off x="6299200" y="2203450"/>
            <a:ext cx="609600" cy="101600"/>
          </a:xfrm>
          <a:prstGeom prst="rect">
            <a:avLst/>
          </a:prstGeom>
        </p:spPr>
      </p:pic>
      <p:pic>
        <p:nvPicPr>
          <p:cNvPr id="8" name="Image 4" descr="connector">    </p:cNvPr>
          <p:cNvPicPr>
            <a:picLocks noChangeAspect="1"/>
          </p:cNvPicPr>
          <p:nvPr/>
        </p:nvPicPr>
        <p:blipFill>
          <a:blip r:embed="rId5"/>
          <a:srcRect l="0" r="0" t="0" b="0"/>
          <a:stretch/>
        </p:blipFill>
        <p:spPr>
          <a:xfrm>
            <a:off x="6299200" y="3251200"/>
            <a:ext cx="609600" cy="101600"/>
          </a:xfrm>
          <a:prstGeom prst="rect">
            <a:avLst/>
          </a:prstGeom>
        </p:spPr>
      </p:pic>
      <p:pic>
        <p:nvPicPr>
          <p:cNvPr id="9" name="Image 5" descr="connector">    </p:cNvPr>
          <p:cNvPicPr>
            <a:picLocks noChangeAspect="1"/>
          </p:cNvPicPr>
          <p:nvPr/>
        </p:nvPicPr>
        <p:blipFill>
          <a:blip r:embed="rId6"/>
          <a:srcRect l="0" r="0" t="0" b="0"/>
          <a:stretch/>
        </p:blipFill>
        <p:spPr>
          <a:xfrm>
            <a:off x="6299200" y="4362450"/>
            <a:ext cx="609600" cy="101600"/>
          </a:xfrm>
          <a:prstGeom prst="rect">
            <a:avLst/>
          </a:prstGeom>
        </p:spPr>
      </p:pic>
      <p:pic>
        <p:nvPicPr>
          <p:cNvPr id="10" name="Image 6" descr="connector">    </p:cNvPr>
          <p:cNvPicPr>
            <a:picLocks noChangeAspect="1"/>
          </p:cNvPicPr>
          <p:nvPr/>
        </p:nvPicPr>
        <p:blipFill>
          <a:blip r:embed="rId7"/>
          <a:srcRect l="0" r="0" t="0" b="0"/>
          <a:stretch/>
        </p:blipFill>
        <p:spPr>
          <a:xfrm>
            <a:off x="8966200" y="3917950"/>
            <a:ext cx="546100" cy="546100"/>
          </a:xfrm>
          <a:prstGeom prst="rect">
            <a:avLst/>
          </a:prstGeom>
        </p:spPr>
      </p:pic>
      <p:pic>
        <p:nvPicPr>
          <p:cNvPr id="11" name="Image 7" descr="connector">    </p:cNvPr>
          <p:cNvPicPr>
            <a:picLocks noChangeAspect="1"/>
          </p:cNvPicPr>
          <p:nvPr/>
        </p:nvPicPr>
        <p:blipFill>
          <a:blip r:embed="rId8"/>
          <a:srcRect l="0" r="0" t="0" b="0"/>
          <a:stretch/>
        </p:blipFill>
        <p:spPr>
          <a:xfrm>
            <a:off x="8966200" y="4362450"/>
            <a:ext cx="546100" cy="546100"/>
          </a:xfrm>
          <a:prstGeom prst="rect">
            <a:avLst/>
          </a:prstGeom>
        </p:spPr>
      </p:pic>
      <p:sp>
        <p:nvSpPr>
          <p:cNvPr id="12" name="Text 2"/>
          <p:cNvSpPr/>
          <p:nvPr/>
        </p:nvSpPr>
        <p:spPr>
          <a:xfrm>
            <a:off x="812800" y="2857500"/>
            <a:ext cx="2159000" cy="889000"/>
          </a:xfrm>
          <a:prstGeom prst="roundRect">
            <a:avLst>
              <a:gd name="adj" fmla="val 11429"/>
            </a:avLst>
          </a:prstGeom>
          <a:solidFill>
            <a:srgbClr val="10272B"/>
          </a:solidFill>
          <a:ln/>
        </p:spPr>
        <p:txBody>
          <a:bodyPr wrap="square" lIns="122642" tIns="71842" rIns="67016" bIns="71842" rtlCol="0" anchor="ctr">
            <a:normAutofit/>
          </a:bodyPr>
          <a:lstStyle/>
          <a:p>
            <a:pPr algn="l" indent="0" marL="0">
              <a:lnSpc>
                <a:spcPts val="1820"/>
              </a:lnSpc>
              <a:buNone/>
            </a:pPr>
            <a:r>
              <a:rPr lang="en-US" sz="1400" b="1" dirty="0">
                <a:solidFill>
                  <a:srgbClr val="F5F2EA"/>
                </a:solidFill>
                <a:latin typeface="Public Sans" pitchFamily="34" charset="0"/>
                <a:ea typeface="Public Sans" pitchFamily="34" charset="-122"/>
                <a:cs typeface="Public Sans" pitchFamily="34" charset="-120"/>
              </a:rPr>
              <a:t>Every vitals record in the barangay</a:t>
            </a:r>
            <a:endParaRPr lang="en-US" sz="1400" dirty="0"/>
          </a:p>
        </p:txBody>
      </p:sp>
      <p:sp>
        <p:nvSpPr>
          <p:cNvPr id="13" name="Text 3"/>
          <p:cNvSpPr/>
          <p:nvPr/>
        </p:nvSpPr>
        <p:spPr>
          <a:xfrm>
            <a:off x="3562350" y="1911350"/>
            <a:ext cx="2781300" cy="685800"/>
          </a:xfrm>
          <a:prstGeom prst="roundRect">
            <a:avLst>
              <a:gd name="adj" fmla="val 13889"/>
            </a:avLst>
          </a:prstGeom>
          <a:solidFill>
            <a:srgbClr val="FBFAF6"/>
          </a:solidFill>
          <a:ln w="12700">
            <a:solidFill>
              <a:srgbClr val="10272B"/>
            </a:solidFill>
            <a:prstDash val="solid"/>
          </a:ln>
        </p:spPr>
        <p:txBody>
          <a:bodyPr wrap="square" lIns="105452" tIns="71222" rIns="30014" bIns="71222" rtlCol="0" anchor="ctr">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SBP ≥ 180 or DBP ≥ 120 (or CRITICAL)</a:t>
            </a:r>
            <a:endParaRPr lang="en-US" sz="1300" dirty="0"/>
          </a:p>
        </p:txBody>
      </p:sp>
      <p:sp>
        <p:nvSpPr>
          <p:cNvPr id="14" name="Text 4"/>
          <p:cNvSpPr/>
          <p:nvPr/>
        </p:nvSpPr>
        <p:spPr>
          <a:xfrm>
            <a:off x="3562350" y="2959100"/>
            <a:ext cx="2781300" cy="685800"/>
          </a:xfrm>
          <a:prstGeom prst="roundRect">
            <a:avLst>
              <a:gd name="adj" fmla="val 13889"/>
            </a:avLst>
          </a:prstGeom>
          <a:solidFill>
            <a:srgbClr val="FBFAF6"/>
          </a:solidFill>
          <a:ln w="12700">
            <a:solidFill>
              <a:srgbClr val="10272B"/>
            </a:solidFill>
            <a:prstDash val="solid"/>
          </a:ln>
        </p:spPr>
        <p:txBody>
          <a:bodyPr wrap="square" lIns="105452" tIns="80052" rIns="30014" bIns="80052" rtlCol="0" anchor="ctr">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Else SBP ≥ 140 or DBP ≥ 90</a:t>
            </a:r>
            <a:endParaRPr lang="en-US" sz="1300" dirty="0"/>
          </a:p>
        </p:txBody>
      </p:sp>
      <p:sp>
        <p:nvSpPr>
          <p:cNvPr id="15" name="Text 5"/>
          <p:cNvSpPr/>
          <p:nvPr/>
        </p:nvSpPr>
        <p:spPr>
          <a:xfrm>
            <a:off x="3562350" y="4070350"/>
            <a:ext cx="2781300" cy="685800"/>
          </a:xfrm>
          <a:prstGeom prst="roundRect">
            <a:avLst>
              <a:gd name="adj" fmla="val 13889"/>
            </a:avLst>
          </a:prstGeom>
          <a:solidFill>
            <a:srgbClr val="FBFAF6"/>
          </a:solidFill>
          <a:ln w="12700">
            <a:solidFill>
              <a:srgbClr val="10272B"/>
            </a:solidFill>
            <a:prstDash val="solid"/>
          </a:ln>
        </p:spPr>
        <p:txBody>
          <a:bodyPr wrap="square" lIns="105452" tIns="80052" rIns="30014" bIns="80052" rtlCol="0" anchor="ctr">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Temperature ≥ 38.0 °C (febrile)</a:t>
            </a:r>
            <a:endParaRPr lang="en-US" sz="1300" dirty="0"/>
          </a:p>
        </p:txBody>
      </p:sp>
      <p:sp>
        <p:nvSpPr>
          <p:cNvPr id="16" name="Text 6"/>
          <p:cNvSpPr/>
          <p:nvPr/>
        </p:nvSpPr>
        <p:spPr>
          <a:xfrm>
            <a:off x="6858000" y="1905000"/>
            <a:ext cx="2159000" cy="698500"/>
          </a:xfrm>
          <a:prstGeom prst="roundRect">
            <a:avLst>
              <a:gd name="adj" fmla="val 14545"/>
            </a:avLst>
          </a:prstGeom>
          <a:solidFill>
            <a:srgbClr val="C23B32"/>
          </a:solidFill>
          <a:ln/>
        </p:spPr>
        <p:txBody>
          <a:bodyPr wrap="square" lIns="97242" tIns="71842" rIns="40092" bIns="71842" rtlCol="0" anchor="ctr">
            <a:normAutofit/>
          </a:bodyPr>
          <a:lstStyle/>
          <a:p>
            <a:pPr algn="l" indent="0" marL="0">
              <a:lnSpc>
                <a:spcPts val="1820"/>
              </a:lnSpc>
              <a:buNone/>
            </a:pPr>
            <a:r>
              <a:rPr lang="en-US" sz="1300" b="1" dirty="0">
                <a:solidFill>
                  <a:srgbClr val="FBF4EE"/>
                </a:solidFill>
                <a:latin typeface="Public Sans" pitchFamily="34" charset="0"/>
                <a:ea typeface="Public Sans" pitchFamily="34" charset="-122"/>
                <a:cs typeface="Public Sans" pitchFamily="34" charset="-120"/>
              </a:rPr>
              <a:t>Hypertensive crisis</a:t>
            </a:r>
            <a:endParaRPr lang="en-US" sz="1300" dirty="0"/>
          </a:p>
        </p:txBody>
      </p:sp>
      <p:sp>
        <p:nvSpPr>
          <p:cNvPr id="17" name="Text 7"/>
          <p:cNvSpPr/>
          <p:nvPr/>
        </p:nvSpPr>
        <p:spPr>
          <a:xfrm>
            <a:off x="6858000" y="2952750"/>
            <a:ext cx="2159000" cy="698500"/>
          </a:xfrm>
          <a:prstGeom prst="roundRect">
            <a:avLst>
              <a:gd name="adj" fmla="val 14545"/>
            </a:avLst>
          </a:prstGeom>
          <a:solidFill>
            <a:srgbClr val="F6D2BC"/>
          </a:solidFill>
          <a:ln/>
        </p:spPr>
        <p:txBody>
          <a:bodyPr wrap="square" lIns="97242" tIns="71842" rIns="40092" bIns="71842" rtlCol="0" anchor="ctr">
            <a:normAutofit/>
          </a:bodyPr>
          <a:lstStyle/>
          <a:p>
            <a:pPr algn="l" indent="0" marL="0">
              <a:lnSpc>
                <a:spcPts val="1820"/>
              </a:lnSpc>
              <a:buNone/>
            </a:pPr>
            <a:r>
              <a:rPr lang="en-US" sz="1300" b="1" dirty="0">
                <a:solidFill>
                  <a:srgbClr val="10272B"/>
                </a:solidFill>
                <a:latin typeface="Public Sans" pitchFamily="34" charset="0"/>
                <a:ea typeface="Public Sans" pitchFamily="34" charset="-122"/>
                <a:cs typeface="Public Sans" pitchFamily="34" charset="-120"/>
              </a:rPr>
              <a:t>Stage 2 hypertension</a:t>
            </a:r>
            <a:endParaRPr lang="en-US" sz="1300" dirty="0"/>
          </a:p>
        </p:txBody>
      </p:sp>
      <p:sp>
        <p:nvSpPr>
          <p:cNvPr id="18" name="Text 8"/>
          <p:cNvSpPr/>
          <p:nvPr/>
        </p:nvSpPr>
        <p:spPr>
          <a:xfrm>
            <a:off x="6864350" y="4070350"/>
            <a:ext cx="2146300" cy="685800"/>
          </a:xfrm>
          <a:prstGeom prst="roundRect">
            <a:avLst>
              <a:gd name="adj" fmla="val 13889"/>
            </a:avLst>
          </a:prstGeom>
          <a:solidFill>
            <a:srgbClr val="FBFAF6"/>
          </a:solidFill>
          <a:ln w="12700">
            <a:solidFill>
              <a:srgbClr val="10272B"/>
            </a:solidFill>
            <a:prstDash val="dash"/>
          </a:ln>
        </p:spPr>
        <p:txBody>
          <a:bodyPr wrap="square" lIns="105452" tIns="71222" rIns="49064" bIns="71222" rtlCol="0" anchor="ctr">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Dengue or petechiae in notes?</a:t>
            </a:r>
            <a:endParaRPr lang="en-US" sz="1300" dirty="0"/>
          </a:p>
        </p:txBody>
      </p:sp>
      <p:sp>
        <p:nvSpPr>
          <p:cNvPr id="19" name="Text 9"/>
          <p:cNvSpPr/>
          <p:nvPr/>
        </p:nvSpPr>
        <p:spPr>
          <a:xfrm>
            <a:off x="9067800" y="3670300"/>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E6E"/>
                </a:solidFill>
                <a:latin typeface="Public Sans" pitchFamily="34" charset="0"/>
                <a:ea typeface="Public Sans" pitchFamily="34" charset="-122"/>
                <a:cs typeface="Public Sans" pitchFamily="34" charset="-120"/>
              </a:rPr>
              <a:t>yes</a:t>
            </a:r>
            <a:endParaRPr lang="en-US" sz="1200" dirty="0"/>
          </a:p>
        </p:txBody>
      </p:sp>
      <p:sp>
        <p:nvSpPr>
          <p:cNvPr id="20" name="Text 10"/>
          <p:cNvSpPr/>
          <p:nvPr/>
        </p:nvSpPr>
        <p:spPr>
          <a:xfrm>
            <a:off x="9067800" y="4902200"/>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E6E"/>
                </a:solidFill>
                <a:latin typeface="Public Sans" pitchFamily="34" charset="0"/>
                <a:ea typeface="Public Sans" pitchFamily="34" charset="-122"/>
                <a:cs typeface="Public Sans" pitchFamily="34" charset="-120"/>
              </a:rPr>
              <a:t>no</a:t>
            </a:r>
            <a:endParaRPr lang="en-US" sz="1200" dirty="0"/>
          </a:p>
        </p:txBody>
      </p:sp>
      <p:sp>
        <p:nvSpPr>
          <p:cNvPr id="21" name="Text 11"/>
          <p:cNvSpPr/>
          <p:nvPr/>
        </p:nvSpPr>
        <p:spPr>
          <a:xfrm>
            <a:off x="9461500" y="3683000"/>
            <a:ext cx="1917700" cy="571500"/>
          </a:xfrm>
          <a:prstGeom prst="roundRect">
            <a:avLst>
              <a:gd name="adj" fmla="val 17778"/>
            </a:avLst>
          </a:prstGeom>
          <a:solidFill>
            <a:srgbClr val="F6E7BE"/>
          </a:solidFill>
          <a:ln/>
        </p:spPr>
        <p:txBody>
          <a:bodyPr wrap="square" lIns="97242" tIns="46442" rIns="46442" bIns="46442" rtlCol="0" anchor="ctr">
            <a:normAutofit/>
          </a:bodyPr>
          <a:lstStyle/>
          <a:p>
            <a:pPr algn="l" indent="0" marL="0">
              <a:lnSpc>
                <a:spcPts val="1820"/>
              </a:lnSpc>
              <a:buNone/>
            </a:pPr>
            <a:r>
              <a:rPr lang="en-US" sz="1300" b="1" dirty="0">
                <a:solidFill>
                  <a:srgbClr val="10272B"/>
                </a:solidFill>
                <a:latin typeface="Public Sans" pitchFamily="34" charset="0"/>
                <a:ea typeface="Public Sans" pitchFamily="34" charset="-122"/>
                <a:cs typeface="Public Sans" pitchFamily="34" charset="-120"/>
              </a:rPr>
              <a:t>Suspected dengue</a:t>
            </a:r>
            <a:endParaRPr lang="en-US" sz="1300" dirty="0"/>
          </a:p>
        </p:txBody>
      </p:sp>
      <p:sp>
        <p:nvSpPr>
          <p:cNvPr id="22" name="Text 12"/>
          <p:cNvSpPr/>
          <p:nvPr/>
        </p:nvSpPr>
        <p:spPr>
          <a:xfrm>
            <a:off x="9461500" y="4572000"/>
            <a:ext cx="1917700" cy="571500"/>
          </a:xfrm>
          <a:prstGeom prst="roundRect">
            <a:avLst>
              <a:gd name="adj" fmla="val 17778"/>
            </a:avLst>
          </a:prstGeom>
          <a:solidFill>
            <a:srgbClr val="DCEBE3"/>
          </a:solidFill>
          <a:ln/>
        </p:spPr>
        <p:txBody>
          <a:bodyPr wrap="square" lIns="97242" tIns="46442" rIns="46442" bIns="46442" rtlCol="0" anchor="ctr">
            <a:normAutofit/>
          </a:bodyPr>
          <a:lstStyle/>
          <a:p>
            <a:pPr algn="l" indent="0" marL="0">
              <a:lnSpc>
                <a:spcPts val="1820"/>
              </a:lnSpc>
              <a:buNone/>
            </a:pPr>
            <a:r>
              <a:rPr lang="en-US" sz="1300" b="1" dirty="0">
                <a:solidFill>
                  <a:srgbClr val="10272B"/>
                </a:solidFill>
                <a:latin typeface="Public Sans" pitchFamily="34" charset="0"/>
                <a:ea typeface="Public Sans" pitchFamily="34" charset="-122"/>
                <a:cs typeface="Public Sans" pitchFamily="34" charset="-120"/>
              </a:rPr>
              <a:t>Acute respiratory</a:t>
            </a:r>
            <a:endParaRPr lang="en-US" sz="1300" dirty="0"/>
          </a:p>
        </p:txBody>
      </p:sp>
      <p:sp>
        <p:nvSpPr>
          <p:cNvPr id="23" name="Text 13"/>
          <p:cNvSpPr/>
          <p:nvPr/>
        </p:nvSpPr>
        <p:spPr>
          <a:xfrm>
            <a:off x="812800" y="53340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C"/>
                </a:solidFill>
                <a:latin typeface="Public Sans" pitchFamily="34" charset="0"/>
                <a:ea typeface="Public Sans" pitchFamily="34" charset="-122"/>
                <a:cs typeface="Public Sans" pitchFamily="34" charset="-120"/>
              </a:rPr>
              <a:t>Counts feed the FHSIS barangay profile, beside ANC coverage and the fully-immunized-child rate.</a:t>
            </a:r>
            <a:endParaRPr lang="en-US" sz="1300" dirty="0"/>
          </a:p>
        </p:txBody>
      </p:sp>
      <p:sp>
        <p:nvSpPr>
          <p:cNvPr id="24"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25"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72B"/>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08A50"/>
                </a:solidFill>
                <a:latin typeface="Public Sans" pitchFamily="34" charset="0"/>
                <a:ea typeface="Public Sans" pitchFamily="34" charset="-122"/>
                <a:cs typeface="Public Sans" pitchFamily="34" charset="-120"/>
              </a:rPr>
              <a:t>HOW THE CODE WORKS · ARCHITECTURE</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2EA"/>
                </a:solidFill>
                <a:latin typeface="Rubik" pitchFamily="34" charset="0"/>
                <a:ea typeface="Rubik" pitchFamily="34" charset="-122"/>
                <a:cs typeface="Rubik" pitchFamily="34" charset="-120"/>
              </a:rPr>
              <a:t>Offline first, cloud second</a:t>
            </a:r>
            <a:endParaRPr lang="en-US" sz="3600" dirty="0"/>
          </a:p>
        </p:txBody>
      </p:sp>
      <p:sp>
        <p:nvSpPr>
          <p:cNvPr id="4" name="Shape 2"/>
          <p:cNvSpPr/>
          <p:nvPr/>
        </p:nvSpPr>
        <p:spPr>
          <a:xfrm>
            <a:off x="812800" y="1778000"/>
            <a:ext cx="4794250" cy="665361"/>
          </a:xfrm>
          <a:prstGeom prst="roundRect">
            <a:avLst>
              <a:gd name="adj" fmla="val 15270"/>
            </a:avLst>
          </a:prstGeom>
          <a:solidFill>
            <a:srgbClr val="E2703A"/>
          </a:solidFill>
          <a:ln/>
        </p:spPr>
      </p:sp>
      <p:pic>
        <p:nvPicPr>
          <p:cNvPr id="5" name="Image 0" descr="Lock">    </p:cNvPr>
          <p:cNvPicPr>
            <a:picLocks noChangeAspect="1"/>
          </p:cNvPicPr>
          <p:nvPr/>
        </p:nvPicPr>
        <p:blipFill>
          <a:blip r:embed="rId1"/>
          <a:srcRect l="-543" r="-543" t="0" b="0"/>
          <a:stretch/>
        </p:blipFill>
        <p:spPr>
          <a:xfrm>
            <a:off x="965200" y="1983680"/>
            <a:ext cx="231080" cy="254000"/>
          </a:xfrm>
          <a:prstGeom prst="rect">
            <a:avLst/>
          </a:prstGeom>
        </p:spPr>
      </p:pic>
      <p:sp>
        <p:nvSpPr>
          <p:cNvPr id="6" name="Text 3"/>
          <p:cNvSpPr/>
          <p:nvPr/>
        </p:nvSpPr>
        <p:spPr>
          <a:xfrm>
            <a:off x="1297880" y="1879600"/>
            <a:ext cx="4281473"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272B"/>
                </a:solidFill>
                <a:latin typeface="Public Sans" pitchFamily="34" charset="0"/>
                <a:ea typeface="Public Sans" pitchFamily="34" charset="-122"/>
                <a:cs typeface="Public Sans" pitchFamily="34" charset="-120"/>
              </a:rPr>
              <a:t>ModuleGuard checks hasModule() before any page renders</a:t>
            </a:r>
            <a:endParaRPr lang="en-US" sz="1300" dirty="0"/>
          </a:p>
        </p:txBody>
      </p:sp>
      <p:pic>
        <p:nvPicPr>
          <p:cNvPr id="7" name="Image 1" descr="connector">    </p:cNvPr>
          <p:cNvPicPr>
            <a:picLocks noChangeAspect="1"/>
          </p:cNvPicPr>
          <p:nvPr/>
        </p:nvPicPr>
        <p:blipFill>
          <a:blip r:embed="rId2"/>
          <a:srcRect l="0" r="0" t="0" b="0"/>
          <a:stretch/>
        </p:blipFill>
        <p:spPr>
          <a:xfrm>
            <a:off x="2654300" y="3619500"/>
            <a:ext cx="603250" cy="127000"/>
          </a:xfrm>
          <a:prstGeom prst="rect">
            <a:avLst/>
          </a:prstGeom>
        </p:spPr>
      </p:pic>
      <p:pic>
        <p:nvPicPr>
          <p:cNvPr id="8" name="Image 2" descr="connector">    </p:cNvPr>
          <p:cNvPicPr>
            <a:picLocks noChangeAspect="1"/>
          </p:cNvPicPr>
          <p:nvPr/>
        </p:nvPicPr>
        <p:blipFill>
          <a:blip r:embed="rId3"/>
          <a:srcRect l="0" r="0" t="0" b="0"/>
          <a:stretch/>
        </p:blipFill>
        <p:spPr>
          <a:xfrm>
            <a:off x="5543550" y="3619500"/>
            <a:ext cx="603250" cy="127000"/>
          </a:xfrm>
          <a:prstGeom prst="rect">
            <a:avLst/>
          </a:prstGeom>
        </p:spPr>
      </p:pic>
      <p:pic>
        <p:nvPicPr>
          <p:cNvPr id="9" name="Image 3" descr="connector">    </p:cNvPr>
          <p:cNvPicPr>
            <a:picLocks noChangeAspect="1"/>
          </p:cNvPicPr>
          <p:nvPr/>
        </p:nvPicPr>
        <p:blipFill>
          <a:blip r:embed="rId4"/>
          <a:srcRect l="0" r="0" t="0" b="0"/>
          <a:stretch/>
        </p:blipFill>
        <p:spPr>
          <a:xfrm>
            <a:off x="8432800" y="3619500"/>
            <a:ext cx="596900" cy="127000"/>
          </a:xfrm>
          <a:prstGeom prst="rect">
            <a:avLst/>
          </a:prstGeom>
        </p:spPr>
      </p:pic>
      <p:sp>
        <p:nvSpPr>
          <p:cNvPr id="10" name="Shape 4"/>
          <p:cNvSpPr/>
          <p:nvPr/>
        </p:nvSpPr>
        <p:spPr>
          <a:xfrm>
            <a:off x="815975" y="2543175"/>
            <a:ext cx="1898650" cy="2279650"/>
          </a:xfrm>
          <a:prstGeom prst="roundRect">
            <a:avLst>
              <a:gd name="adj" fmla="val 6522"/>
            </a:avLst>
          </a:prstGeom>
          <a:solidFill>
            <a:srgbClr val="183A3F"/>
          </a:solidFill>
          <a:ln w="6350">
            <a:solidFill>
              <a:srgbClr val="2F5A5F"/>
            </a:solidFill>
            <a:prstDash val="solid"/>
          </a:ln>
        </p:spPr>
      </p:sp>
      <p:sp>
        <p:nvSpPr>
          <p:cNvPr id="11" name="Text 5"/>
          <p:cNvSpPr/>
          <p:nvPr/>
        </p:nvSpPr>
        <p:spPr>
          <a:xfrm>
            <a:off x="1022350" y="2749550"/>
            <a:ext cx="1536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0"/>
                </a:solidFill>
                <a:latin typeface="Public Sans" pitchFamily="34" charset="0"/>
                <a:ea typeface="Public Sans" pitchFamily="34" charset="-122"/>
                <a:cs typeface="Public Sans" pitchFamily="34" charset="-120"/>
              </a:rPr>
              <a:t>1 · Pages</a:t>
            </a:r>
            <a:endParaRPr lang="en-US" sz="1200" dirty="0"/>
          </a:p>
        </p:txBody>
      </p:sp>
      <p:sp>
        <p:nvSpPr>
          <p:cNvPr id="12" name="Text 6"/>
          <p:cNvSpPr/>
          <p:nvPr/>
        </p:nvSpPr>
        <p:spPr>
          <a:xfrm>
            <a:off x="1022350" y="3039070"/>
            <a:ext cx="153670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2EA"/>
                </a:solidFill>
                <a:latin typeface="Rubik" pitchFamily="34" charset="0"/>
                <a:ea typeface="Rubik" pitchFamily="34" charset="-122"/>
                <a:cs typeface="Rubik" pitchFamily="34" charset="-120"/>
              </a:rPr>
              <a:t>Next.js App Router</a:t>
            </a:r>
            <a:endParaRPr lang="en-US" sz="1600" dirty="0"/>
          </a:p>
        </p:txBody>
      </p:sp>
      <p:sp>
        <p:nvSpPr>
          <p:cNvPr id="13" name="Text 7"/>
          <p:cNvSpPr/>
          <p:nvPr/>
        </p:nvSpPr>
        <p:spPr>
          <a:xfrm>
            <a:off x="1022350" y="3602831"/>
            <a:ext cx="1536700" cy="1000522"/>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/residents</a:t>
            </a:r>
            <a:endParaRPr lang="en-US" sz="1200" dirty="0"/>
          </a:p>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/vitals</a:t>
            </a:r>
            <a:endParaRPr lang="en-US" sz="1200" dirty="0"/>
          </a:p>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/maternal</a:t>
            </a:r>
            <a:endParaRPr lang="en-US" sz="1200" dirty="0"/>
          </a:p>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/analytics</a:t>
            </a:r>
            <a:endParaRPr lang="en-US" sz="1200" dirty="0"/>
          </a:p>
        </p:txBody>
      </p:sp>
      <p:sp>
        <p:nvSpPr>
          <p:cNvPr id="14" name="Shape 8"/>
          <p:cNvSpPr/>
          <p:nvPr/>
        </p:nvSpPr>
        <p:spPr>
          <a:xfrm>
            <a:off x="3197225" y="2543175"/>
            <a:ext cx="2406650" cy="2279650"/>
          </a:xfrm>
          <a:prstGeom prst="roundRect">
            <a:avLst>
              <a:gd name="adj" fmla="val 5432"/>
            </a:avLst>
          </a:prstGeom>
          <a:solidFill>
            <a:srgbClr val="183A3F"/>
          </a:solidFill>
          <a:ln w="6350">
            <a:solidFill>
              <a:srgbClr val="2F5A5F"/>
            </a:solidFill>
            <a:prstDash val="solid"/>
          </a:ln>
        </p:spPr>
      </p:sp>
      <p:sp>
        <p:nvSpPr>
          <p:cNvPr id="15" name="Text 9"/>
          <p:cNvSpPr/>
          <p:nvPr/>
        </p:nvSpPr>
        <p:spPr>
          <a:xfrm>
            <a:off x="3403600" y="2749550"/>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0"/>
                </a:solidFill>
                <a:latin typeface="Public Sans" pitchFamily="34" charset="0"/>
                <a:ea typeface="Public Sans" pitchFamily="34" charset="-122"/>
                <a:cs typeface="Public Sans" pitchFamily="34" charset="-120"/>
              </a:rPr>
              <a:t>2 · Logic</a:t>
            </a:r>
            <a:endParaRPr lang="en-US" sz="1200" dirty="0"/>
          </a:p>
        </p:txBody>
      </p:sp>
      <p:sp>
        <p:nvSpPr>
          <p:cNvPr id="16" name="Text 10"/>
          <p:cNvSpPr/>
          <p:nvPr/>
        </p:nvSpPr>
        <p:spPr>
          <a:xfrm>
            <a:off x="3403600" y="3039070"/>
            <a:ext cx="205371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2EA"/>
                </a:solidFill>
                <a:latin typeface="Rubik" pitchFamily="34" charset="0"/>
                <a:ea typeface="Rubik" pitchFamily="34" charset="-122"/>
                <a:cs typeface="Rubik" pitchFamily="34" charset="-120"/>
              </a:rPr>
              <a:t>Services</a:t>
            </a:r>
            <a:endParaRPr lang="en-US" sz="1600" dirty="0"/>
          </a:p>
        </p:txBody>
      </p:sp>
      <p:sp>
        <p:nvSpPr>
          <p:cNvPr id="17" name="Text 11"/>
          <p:cNvSpPr/>
          <p:nvPr/>
        </p:nvSpPr>
        <p:spPr>
          <a:xfrm>
            <a:off x="3403600" y="3359051"/>
            <a:ext cx="2053717" cy="1000522"/>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ClinicalService</a:t>
            </a:r>
            <a:endParaRPr lang="en-US" sz="1200" dirty="0"/>
          </a:p>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AnalyticsService</a:t>
            </a:r>
            <a:endParaRPr lang="en-US" sz="1200" dirty="0"/>
          </a:p>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evaluateVitals()</a:t>
            </a:r>
            <a:endParaRPr lang="en-US" sz="1200" dirty="0"/>
          </a:p>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SupabaseSyncService</a:t>
            </a:r>
            <a:endParaRPr lang="en-US" sz="1200" dirty="0"/>
          </a:p>
        </p:txBody>
      </p:sp>
      <p:sp>
        <p:nvSpPr>
          <p:cNvPr id="18" name="Shape 12"/>
          <p:cNvSpPr/>
          <p:nvPr/>
        </p:nvSpPr>
        <p:spPr>
          <a:xfrm>
            <a:off x="6086475" y="2543175"/>
            <a:ext cx="2406650" cy="2279650"/>
          </a:xfrm>
          <a:prstGeom prst="roundRect">
            <a:avLst>
              <a:gd name="adj" fmla="val 5432"/>
            </a:avLst>
          </a:prstGeom>
          <a:solidFill>
            <a:srgbClr val="183A3F"/>
          </a:solidFill>
          <a:ln w="6350">
            <a:solidFill>
              <a:srgbClr val="2F5A5F"/>
            </a:solidFill>
            <a:prstDash val="solid"/>
          </a:ln>
        </p:spPr>
      </p:sp>
      <p:sp>
        <p:nvSpPr>
          <p:cNvPr id="19" name="Text 13"/>
          <p:cNvSpPr/>
          <p:nvPr/>
        </p:nvSpPr>
        <p:spPr>
          <a:xfrm>
            <a:off x="6292850" y="2749550"/>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0"/>
                </a:solidFill>
                <a:latin typeface="Public Sans" pitchFamily="34" charset="0"/>
                <a:ea typeface="Public Sans" pitchFamily="34" charset="-122"/>
                <a:cs typeface="Public Sans" pitchFamily="34" charset="-120"/>
              </a:rPr>
              <a:t>3 · On the device</a:t>
            </a:r>
            <a:endParaRPr lang="en-US" sz="1200" dirty="0"/>
          </a:p>
        </p:txBody>
      </p:sp>
      <p:sp>
        <p:nvSpPr>
          <p:cNvPr id="20" name="Text 14"/>
          <p:cNvSpPr/>
          <p:nvPr/>
        </p:nvSpPr>
        <p:spPr>
          <a:xfrm>
            <a:off x="6292850" y="3039070"/>
            <a:ext cx="205371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2EA"/>
                </a:solidFill>
                <a:latin typeface="Rubik" pitchFamily="34" charset="0"/>
                <a:ea typeface="Rubik" pitchFamily="34" charset="-122"/>
                <a:cs typeface="Rubik" pitchFamily="34" charset="-120"/>
              </a:rPr>
              <a:t>localStorage cache</a:t>
            </a:r>
            <a:endParaRPr lang="en-US" sz="1600" dirty="0"/>
          </a:p>
        </p:txBody>
      </p:sp>
      <p:sp>
        <p:nvSpPr>
          <p:cNvPr id="21" name="Text 15"/>
          <p:cNvSpPr/>
          <p:nvPr/>
        </p:nvSpPr>
        <p:spPr>
          <a:xfrm>
            <a:off x="6292850" y="3359051"/>
            <a:ext cx="2053717" cy="75674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bhms_vitals_cache</a:t>
            </a:r>
            <a:endParaRPr lang="en-US" sz="1200" dirty="0"/>
          </a:p>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bhms_maternal_cache</a:t>
            </a:r>
            <a:endParaRPr lang="en-US" sz="1200" dirty="0"/>
          </a:p>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bhms_visits_cache</a:t>
            </a:r>
            <a:endParaRPr lang="en-US" sz="1200" dirty="0"/>
          </a:p>
        </p:txBody>
      </p:sp>
      <p:sp>
        <p:nvSpPr>
          <p:cNvPr id="22" name="Shape 16"/>
          <p:cNvSpPr/>
          <p:nvPr/>
        </p:nvSpPr>
        <p:spPr>
          <a:xfrm>
            <a:off x="8972550" y="2546350"/>
            <a:ext cx="2400300" cy="2273300"/>
          </a:xfrm>
          <a:prstGeom prst="roundRect">
            <a:avLst>
              <a:gd name="adj" fmla="val 5307"/>
            </a:avLst>
          </a:prstGeom>
          <a:solidFill>
            <a:srgbClr val="183A3F"/>
          </a:solidFill>
          <a:ln w="12700">
            <a:solidFill>
              <a:srgbClr val="E2703A"/>
            </a:solidFill>
            <a:prstDash val="solid"/>
          </a:ln>
        </p:spPr>
      </p:sp>
      <p:sp>
        <p:nvSpPr>
          <p:cNvPr id="23" name="Text 17"/>
          <p:cNvSpPr/>
          <p:nvPr/>
        </p:nvSpPr>
        <p:spPr>
          <a:xfrm>
            <a:off x="9182100" y="275590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0"/>
                </a:solidFill>
                <a:latin typeface="Public Sans" pitchFamily="34" charset="0"/>
                <a:ea typeface="Public Sans" pitchFamily="34" charset="-122"/>
                <a:cs typeface="Public Sans" pitchFamily="34" charset="-120"/>
              </a:rPr>
              <a:t>4 · Cloud</a:t>
            </a:r>
            <a:endParaRPr lang="en-US" sz="1200" dirty="0"/>
          </a:p>
        </p:txBody>
      </p:sp>
      <p:sp>
        <p:nvSpPr>
          <p:cNvPr id="24" name="Text 18"/>
          <p:cNvSpPr/>
          <p:nvPr/>
        </p:nvSpPr>
        <p:spPr>
          <a:xfrm>
            <a:off x="9182100" y="3045420"/>
            <a:ext cx="20406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2EA"/>
                </a:solidFill>
                <a:latin typeface="Rubik" pitchFamily="34" charset="0"/>
                <a:ea typeface="Rubik" pitchFamily="34" charset="-122"/>
                <a:cs typeface="Rubik" pitchFamily="34" charset="-120"/>
              </a:rPr>
              <a:t>Supabase</a:t>
            </a:r>
            <a:endParaRPr lang="en-US" sz="1600" dirty="0"/>
          </a:p>
        </p:txBody>
      </p:sp>
      <p:sp>
        <p:nvSpPr>
          <p:cNvPr id="25" name="Text 19"/>
          <p:cNvSpPr/>
          <p:nvPr/>
        </p:nvSpPr>
        <p:spPr>
          <a:xfrm>
            <a:off x="9182100" y="3365401"/>
            <a:ext cx="2040636" cy="75674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bhsms-backups</a:t>
            </a:r>
            <a:endParaRPr lang="en-US" sz="1200" dirty="0"/>
          </a:p>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residents, profiles</a:t>
            </a:r>
            <a:endParaRPr lang="en-US" sz="1200" dirty="0"/>
          </a:p>
          <a:p>
            <a:pPr algn="l" indent="0" marL="0">
              <a:lnSpc>
                <a:spcPts val="1920"/>
              </a:lnSpc>
              <a:buNone/>
            </a:pPr>
            <a:r>
              <a:rPr lang="en-US" sz="1200" dirty="0">
                <a:solidFill>
                  <a:srgbClr val="A9C4C1"/>
                </a:solidFill>
                <a:latin typeface="JetBrains Mono" pitchFamily="49" charset="0"/>
                <a:ea typeface="JetBrains Mono" pitchFamily="49" charset="-122"/>
                <a:cs typeface="JetBrains Mono" pitchFamily="49" charset="-120"/>
              </a:rPr>
              <a:t>RLS · audit_logs</a:t>
            </a:r>
            <a:endParaRPr lang="en-US" sz="1200" dirty="0"/>
          </a:p>
        </p:txBody>
      </p:sp>
      <p:sp>
        <p:nvSpPr>
          <p:cNvPr id="26" name="Text 20"/>
          <p:cNvSpPr/>
          <p:nvPr/>
        </p:nvSpPr>
        <p:spPr>
          <a:xfrm>
            <a:off x="812800" y="5080000"/>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4C1"/>
                </a:solidFill>
                <a:latin typeface="Public Sans" pitchFamily="34" charset="0"/>
                <a:ea typeface="Public Sans" pitchFamily="34" charset="-122"/>
                <a:cs typeface="Public Sans" pitchFamily="34" charset="-120"/>
              </a:rPr>
              <a:t>Every write lands in the browser first, so a station keeps working with no signal. Sync bundles the cache into a cloud backup when the connection holds.</a:t>
            </a:r>
            <a:endParaRPr lang="en-US" sz="1400" dirty="0"/>
          </a:p>
        </p:txBody>
      </p:sp>
      <p:sp>
        <p:nvSpPr>
          <p:cNvPr id="27" name="Text 2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4C1"/>
                </a:solidFill>
                <a:latin typeface="Public Sans" pitchFamily="34" charset="0"/>
                <a:ea typeface="Public Sans" pitchFamily="34" charset="-122"/>
                <a:cs typeface="Public Sans" pitchFamily="34" charset="-120"/>
              </a:rPr>
              <a:t>BHSMS · How it works</a:t>
            </a:r>
            <a:endParaRPr lang="en-US" sz="1200" dirty="0"/>
          </a:p>
        </p:txBody>
      </p:sp>
      <p:sp>
        <p:nvSpPr>
          <p:cNvPr id="28"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4C1"/>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272B"/>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08A50"/>
                </a:solidFill>
                <a:latin typeface="Public Sans" pitchFamily="34" charset="0"/>
                <a:ea typeface="Public Sans" pitchFamily="34" charset="-122"/>
                <a:cs typeface="Public Sans" pitchFamily="34" charset="-120"/>
              </a:rPr>
              <a:t>HOW THE CODE WORKS · ONE VITALS ENTRY</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2EA"/>
                </a:solidFill>
                <a:latin typeface="Rubik" pitchFamily="34" charset="0"/>
                <a:ea typeface="Rubik" pitchFamily="34" charset="-122"/>
                <a:cs typeface="Rubik" pitchFamily="34" charset="-120"/>
              </a:rPr>
              <a:t>From keystroke to cloud in six steps</a:t>
            </a:r>
            <a:endParaRPr lang="en-US" sz="3600" dirty="0"/>
          </a:p>
        </p:txBody>
      </p:sp>
      <p:pic>
        <p:nvPicPr>
          <p:cNvPr id="4" name="Image 0" descr="connector">    </p:cNvPr>
          <p:cNvPicPr>
            <a:picLocks noChangeAspect="1"/>
          </p:cNvPicPr>
          <p:nvPr/>
        </p:nvPicPr>
        <p:blipFill>
          <a:blip r:embed="rId1"/>
          <a:srcRect l="0" r="0" t="0" b="0"/>
          <a:stretch/>
        </p:blipFill>
        <p:spPr>
          <a:xfrm>
            <a:off x="4064000" y="2667000"/>
            <a:ext cx="438150" cy="127000"/>
          </a:xfrm>
          <a:prstGeom prst="rect">
            <a:avLst/>
          </a:prstGeom>
        </p:spPr>
      </p:pic>
      <p:pic>
        <p:nvPicPr>
          <p:cNvPr id="5" name="Image 1" descr="connector">    </p:cNvPr>
          <p:cNvPicPr>
            <a:picLocks noChangeAspect="1"/>
          </p:cNvPicPr>
          <p:nvPr/>
        </p:nvPicPr>
        <p:blipFill>
          <a:blip r:embed="rId2"/>
          <a:srcRect l="0" r="0" t="0" b="0"/>
          <a:stretch/>
        </p:blipFill>
        <p:spPr>
          <a:xfrm>
            <a:off x="7689850" y="2667000"/>
            <a:ext cx="438150" cy="127000"/>
          </a:xfrm>
          <a:prstGeom prst="rect">
            <a:avLst/>
          </a:prstGeom>
        </p:spPr>
      </p:pic>
      <p:pic>
        <p:nvPicPr>
          <p:cNvPr id="6" name="Image 2" descr="connector">    </p:cNvPr>
          <p:cNvPicPr>
            <a:picLocks noChangeAspect="1"/>
          </p:cNvPicPr>
          <p:nvPr/>
        </p:nvPicPr>
        <p:blipFill>
          <a:blip r:embed="rId3"/>
          <a:srcRect l="0" r="0" t="0" b="0"/>
          <a:stretch/>
        </p:blipFill>
        <p:spPr>
          <a:xfrm>
            <a:off x="9658350" y="3556000"/>
            <a:ext cx="127000" cy="508000"/>
          </a:xfrm>
          <a:prstGeom prst="rect">
            <a:avLst/>
          </a:prstGeom>
        </p:spPr>
      </p:pic>
      <p:pic>
        <p:nvPicPr>
          <p:cNvPr id="7" name="Image 3" descr="connector">    </p:cNvPr>
          <p:cNvPicPr>
            <a:picLocks noChangeAspect="1"/>
          </p:cNvPicPr>
          <p:nvPr/>
        </p:nvPicPr>
        <p:blipFill>
          <a:blip r:embed="rId4"/>
          <a:srcRect l="0" r="0" t="0" b="0"/>
          <a:stretch/>
        </p:blipFill>
        <p:spPr>
          <a:xfrm>
            <a:off x="7689850" y="4826000"/>
            <a:ext cx="438150" cy="127000"/>
          </a:xfrm>
          <a:prstGeom prst="rect">
            <a:avLst/>
          </a:prstGeom>
        </p:spPr>
      </p:pic>
      <p:pic>
        <p:nvPicPr>
          <p:cNvPr id="8" name="Image 4" descr="connector">    </p:cNvPr>
          <p:cNvPicPr>
            <a:picLocks noChangeAspect="1"/>
          </p:cNvPicPr>
          <p:nvPr/>
        </p:nvPicPr>
        <p:blipFill>
          <a:blip r:embed="rId5"/>
          <a:srcRect l="0" r="0" t="0" b="0"/>
          <a:stretch/>
        </p:blipFill>
        <p:spPr>
          <a:xfrm>
            <a:off x="4064000" y="4826000"/>
            <a:ext cx="438150" cy="127000"/>
          </a:xfrm>
          <a:prstGeom prst="rect">
            <a:avLst/>
          </a:prstGeom>
        </p:spPr>
      </p:pic>
      <p:sp>
        <p:nvSpPr>
          <p:cNvPr id="9" name="Shape 2"/>
          <p:cNvSpPr/>
          <p:nvPr/>
        </p:nvSpPr>
        <p:spPr>
          <a:xfrm>
            <a:off x="815975" y="1844675"/>
            <a:ext cx="3308350" cy="1771650"/>
          </a:xfrm>
          <a:prstGeom prst="roundRect">
            <a:avLst>
              <a:gd name="adj" fmla="val 6989"/>
            </a:avLst>
          </a:prstGeom>
          <a:solidFill>
            <a:srgbClr val="183A3F"/>
          </a:solidFill>
          <a:ln w="6350">
            <a:solidFill>
              <a:srgbClr val="2F5A5F"/>
            </a:solidFill>
            <a:prstDash val="solid"/>
          </a:ln>
        </p:spPr>
      </p:sp>
      <p:sp>
        <p:nvSpPr>
          <p:cNvPr id="10" name="Text 3"/>
          <p:cNvSpPr/>
          <p:nvPr/>
        </p:nvSpPr>
        <p:spPr>
          <a:xfrm>
            <a:off x="996950" y="202565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0"/>
                </a:solidFill>
                <a:latin typeface="Public Sans" pitchFamily="34" charset="0"/>
                <a:ea typeface="Public Sans" pitchFamily="34" charset="-122"/>
                <a:cs typeface="Public Sans" pitchFamily="34" charset="-120"/>
              </a:rPr>
              <a:t>1</a:t>
            </a:r>
            <a:endParaRPr lang="en-US" sz="1200" dirty="0"/>
          </a:p>
        </p:txBody>
      </p:sp>
      <p:sp>
        <p:nvSpPr>
          <p:cNvPr id="11" name="Text 4"/>
          <p:cNvSpPr/>
          <p:nvPr/>
        </p:nvSpPr>
        <p:spPr>
          <a:xfrm>
            <a:off x="996950" y="2315170"/>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2EA"/>
                </a:solidFill>
                <a:latin typeface="Rubik" pitchFamily="34" charset="0"/>
                <a:ea typeface="Rubik" pitchFamily="34" charset="-122"/>
                <a:cs typeface="Rubik" pitchFamily="34" charset="-120"/>
              </a:rPr>
              <a:t>Vitals form</a:t>
            </a:r>
            <a:endParaRPr lang="en-US" sz="1600" dirty="0"/>
          </a:p>
        </p:txBody>
      </p:sp>
      <p:sp>
        <p:nvSpPr>
          <p:cNvPr id="12" name="Text 5"/>
          <p:cNvSpPr/>
          <p:nvPr/>
        </p:nvSpPr>
        <p:spPr>
          <a:xfrm>
            <a:off x="996950" y="2635151"/>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D8C6"/>
                </a:solidFill>
                <a:latin typeface="JetBrains Mono" pitchFamily="49" charset="0"/>
                <a:ea typeface="JetBrains Mono" pitchFamily="49" charset="-122"/>
                <a:cs typeface="JetBrains Mono" pitchFamily="49" charset="-120"/>
              </a:rPr>
              <a:t>src/app/vitals/page.tsx</a:t>
            </a:r>
            <a:endParaRPr lang="en-US" sz="1200" dirty="0"/>
          </a:p>
        </p:txBody>
      </p:sp>
      <p:sp>
        <p:nvSpPr>
          <p:cNvPr id="13" name="Text 6"/>
          <p:cNvSpPr/>
          <p:nvPr/>
        </p:nvSpPr>
        <p:spPr>
          <a:xfrm>
            <a:off x="996950" y="2924671"/>
            <a:ext cx="30347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C4C1"/>
                </a:solidFill>
                <a:latin typeface="Public Sans" pitchFamily="34" charset="0"/>
                <a:ea typeface="Public Sans" pitchFamily="34" charset="-122"/>
                <a:cs typeface="Public Sans" pitchFamily="34" charset="-120"/>
              </a:rPr>
              <a:t>The nurse types the seven readings.</a:t>
            </a:r>
            <a:endParaRPr lang="en-US" sz="1300" dirty="0"/>
          </a:p>
        </p:txBody>
      </p:sp>
      <p:sp>
        <p:nvSpPr>
          <p:cNvPr id="14" name="Shape 7"/>
          <p:cNvSpPr/>
          <p:nvPr/>
        </p:nvSpPr>
        <p:spPr>
          <a:xfrm>
            <a:off x="4441825" y="1844675"/>
            <a:ext cx="3308350" cy="1771650"/>
          </a:xfrm>
          <a:prstGeom prst="roundRect">
            <a:avLst>
              <a:gd name="adj" fmla="val 6989"/>
            </a:avLst>
          </a:prstGeom>
          <a:solidFill>
            <a:srgbClr val="183A3F"/>
          </a:solidFill>
          <a:ln w="6350">
            <a:solidFill>
              <a:srgbClr val="2F5A5F"/>
            </a:solidFill>
            <a:prstDash val="solid"/>
          </a:ln>
        </p:spPr>
      </p:sp>
      <p:sp>
        <p:nvSpPr>
          <p:cNvPr id="15" name="Text 8"/>
          <p:cNvSpPr/>
          <p:nvPr/>
        </p:nvSpPr>
        <p:spPr>
          <a:xfrm>
            <a:off x="4622800" y="202565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0"/>
                </a:solidFill>
                <a:latin typeface="Public Sans" pitchFamily="34" charset="0"/>
                <a:ea typeface="Public Sans" pitchFamily="34" charset="-122"/>
                <a:cs typeface="Public Sans" pitchFamily="34" charset="-120"/>
              </a:rPr>
              <a:t>2</a:t>
            </a:r>
            <a:endParaRPr lang="en-US" sz="1200" dirty="0"/>
          </a:p>
        </p:txBody>
      </p:sp>
      <p:sp>
        <p:nvSpPr>
          <p:cNvPr id="16" name="Text 9"/>
          <p:cNvSpPr/>
          <p:nvPr/>
        </p:nvSpPr>
        <p:spPr>
          <a:xfrm>
            <a:off x="4622800" y="2315170"/>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2EA"/>
                </a:solidFill>
                <a:latin typeface="Rubik" pitchFamily="34" charset="0"/>
                <a:ea typeface="Rubik" pitchFamily="34" charset="-122"/>
                <a:cs typeface="Rubik" pitchFamily="34" charset="-120"/>
              </a:rPr>
              <a:t>Live preview</a:t>
            </a:r>
            <a:endParaRPr lang="en-US" sz="1600" dirty="0"/>
          </a:p>
        </p:txBody>
      </p:sp>
      <p:sp>
        <p:nvSpPr>
          <p:cNvPr id="17" name="Text 10"/>
          <p:cNvSpPr/>
          <p:nvPr/>
        </p:nvSpPr>
        <p:spPr>
          <a:xfrm>
            <a:off x="4622800" y="2635151"/>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D8C6"/>
                </a:solidFill>
                <a:latin typeface="JetBrains Mono" pitchFamily="49" charset="0"/>
                <a:ea typeface="JetBrains Mono" pitchFamily="49" charset="-122"/>
                <a:cs typeface="JetBrains Mono" pitchFamily="49" charset="-120"/>
              </a:rPr>
              <a:t>evaluateVitals()</a:t>
            </a:r>
            <a:endParaRPr lang="en-US" sz="1200" dirty="0"/>
          </a:p>
        </p:txBody>
      </p:sp>
      <p:sp>
        <p:nvSpPr>
          <p:cNvPr id="18" name="Text 11"/>
          <p:cNvSpPr/>
          <p:nvPr/>
        </p:nvSpPr>
        <p:spPr>
          <a:xfrm>
            <a:off x="4622800" y="2924671"/>
            <a:ext cx="303479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C4C1"/>
                </a:solidFill>
                <a:latin typeface="Public Sans" pitchFamily="34" charset="0"/>
                <a:ea typeface="Public Sans" pitchFamily="34" charset="-122"/>
                <a:cs typeface="Public Sans" pitchFamily="34" charset="-120"/>
              </a:rPr>
              <a:t>Re-runs on every change; the severity badge updates live.</a:t>
            </a:r>
            <a:endParaRPr lang="en-US" sz="1300" dirty="0"/>
          </a:p>
        </p:txBody>
      </p:sp>
      <p:sp>
        <p:nvSpPr>
          <p:cNvPr id="19" name="Shape 12"/>
          <p:cNvSpPr/>
          <p:nvPr/>
        </p:nvSpPr>
        <p:spPr>
          <a:xfrm>
            <a:off x="8067675" y="1844675"/>
            <a:ext cx="3308350" cy="1771650"/>
          </a:xfrm>
          <a:prstGeom prst="roundRect">
            <a:avLst>
              <a:gd name="adj" fmla="val 6989"/>
            </a:avLst>
          </a:prstGeom>
          <a:solidFill>
            <a:srgbClr val="183A3F"/>
          </a:solidFill>
          <a:ln w="6350">
            <a:solidFill>
              <a:srgbClr val="2F5A5F"/>
            </a:solidFill>
            <a:prstDash val="solid"/>
          </a:ln>
        </p:spPr>
      </p:sp>
      <p:sp>
        <p:nvSpPr>
          <p:cNvPr id="20" name="Text 13"/>
          <p:cNvSpPr/>
          <p:nvPr/>
        </p:nvSpPr>
        <p:spPr>
          <a:xfrm>
            <a:off x="8248650" y="202565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0"/>
                </a:solidFill>
                <a:latin typeface="Public Sans" pitchFamily="34" charset="0"/>
                <a:ea typeface="Public Sans" pitchFamily="34" charset="-122"/>
                <a:cs typeface="Public Sans" pitchFamily="34" charset="-120"/>
              </a:rPr>
              <a:t>3</a:t>
            </a:r>
            <a:endParaRPr lang="en-US" sz="1200" dirty="0"/>
          </a:p>
        </p:txBody>
      </p:sp>
      <p:sp>
        <p:nvSpPr>
          <p:cNvPr id="21" name="Text 14"/>
          <p:cNvSpPr/>
          <p:nvPr/>
        </p:nvSpPr>
        <p:spPr>
          <a:xfrm>
            <a:off x="8248650" y="2315170"/>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2EA"/>
                </a:solidFill>
                <a:latin typeface="Rubik" pitchFamily="34" charset="0"/>
                <a:ea typeface="Rubik" pitchFamily="34" charset="-122"/>
                <a:cs typeface="Rubik" pitchFamily="34" charset="-120"/>
              </a:rPr>
              <a:t>Submit</a:t>
            </a:r>
            <a:endParaRPr lang="en-US" sz="1600" dirty="0"/>
          </a:p>
        </p:txBody>
      </p:sp>
      <p:sp>
        <p:nvSpPr>
          <p:cNvPr id="22" name="Text 15"/>
          <p:cNvSpPr/>
          <p:nvPr/>
        </p:nvSpPr>
        <p:spPr>
          <a:xfrm>
            <a:off x="8248650" y="2635151"/>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D8C6"/>
                </a:solidFill>
                <a:latin typeface="JetBrains Mono" pitchFamily="49" charset="0"/>
                <a:ea typeface="JetBrains Mono" pitchFamily="49" charset="-122"/>
                <a:cs typeface="JetBrains Mono" pitchFamily="49" charset="-120"/>
              </a:rPr>
              <a:t>ClinicalService.recordVitals()</a:t>
            </a:r>
            <a:endParaRPr lang="en-US" sz="1200" dirty="0"/>
          </a:p>
        </p:txBody>
      </p:sp>
      <p:sp>
        <p:nvSpPr>
          <p:cNvPr id="23" name="Text 16"/>
          <p:cNvSpPr/>
          <p:nvPr/>
        </p:nvSpPr>
        <p:spPr>
          <a:xfrm>
            <a:off x="8248650" y="2924671"/>
            <a:ext cx="303479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C4C1"/>
                </a:solidFill>
                <a:latin typeface="Public Sans" pitchFamily="34" charset="0"/>
                <a:ea typeface="Public Sans" pitchFamily="34" charset="-122"/>
                <a:cs typeface="Public Sans" pitchFamily="34" charset="-120"/>
              </a:rPr>
              <a:t>Evaluates again and adds the ID, user and time.</a:t>
            </a:r>
            <a:endParaRPr lang="en-US" sz="1300" dirty="0"/>
          </a:p>
        </p:txBody>
      </p:sp>
      <p:sp>
        <p:nvSpPr>
          <p:cNvPr id="24" name="Shape 17"/>
          <p:cNvSpPr/>
          <p:nvPr/>
        </p:nvSpPr>
        <p:spPr>
          <a:xfrm>
            <a:off x="8067675" y="4003675"/>
            <a:ext cx="3308350" cy="1771650"/>
          </a:xfrm>
          <a:prstGeom prst="roundRect">
            <a:avLst>
              <a:gd name="adj" fmla="val 6989"/>
            </a:avLst>
          </a:prstGeom>
          <a:solidFill>
            <a:srgbClr val="183A3F"/>
          </a:solidFill>
          <a:ln w="6350">
            <a:solidFill>
              <a:srgbClr val="2F5A5F"/>
            </a:solidFill>
            <a:prstDash val="solid"/>
          </a:ln>
        </p:spPr>
      </p:sp>
      <p:sp>
        <p:nvSpPr>
          <p:cNvPr id="25" name="Text 18"/>
          <p:cNvSpPr/>
          <p:nvPr/>
        </p:nvSpPr>
        <p:spPr>
          <a:xfrm>
            <a:off x="8248650" y="418465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0"/>
                </a:solidFill>
                <a:latin typeface="Public Sans" pitchFamily="34" charset="0"/>
                <a:ea typeface="Public Sans" pitchFamily="34" charset="-122"/>
                <a:cs typeface="Public Sans" pitchFamily="34" charset="-120"/>
              </a:rPr>
              <a:t>4</a:t>
            </a:r>
            <a:endParaRPr lang="en-US" sz="1200" dirty="0"/>
          </a:p>
        </p:txBody>
      </p:sp>
      <p:sp>
        <p:nvSpPr>
          <p:cNvPr id="26" name="Text 19"/>
          <p:cNvSpPr/>
          <p:nvPr/>
        </p:nvSpPr>
        <p:spPr>
          <a:xfrm>
            <a:off x="8248650" y="4474170"/>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2EA"/>
                </a:solidFill>
                <a:latin typeface="Rubik" pitchFamily="34" charset="0"/>
                <a:ea typeface="Rubik" pitchFamily="34" charset="-122"/>
                <a:cs typeface="Rubik" pitchFamily="34" charset="-120"/>
              </a:rPr>
              <a:t>Offline cache</a:t>
            </a:r>
            <a:endParaRPr lang="en-US" sz="1600" dirty="0"/>
          </a:p>
        </p:txBody>
      </p:sp>
      <p:sp>
        <p:nvSpPr>
          <p:cNvPr id="27" name="Text 20"/>
          <p:cNvSpPr/>
          <p:nvPr/>
        </p:nvSpPr>
        <p:spPr>
          <a:xfrm>
            <a:off x="8248650" y="4794151"/>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D8C6"/>
                </a:solidFill>
                <a:latin typeface="JetBrains Mono" pitchFamily="49" charset="0"/>
                <a:ea typeface="JetBrains Mono" pitchFamily="49" charset="-122"/>
                <a:cs typeface="JetBrains Mono" pitchFamily="49" charset="-120"/>
              </a:rPr>
              <a:t>localStorage: bhms_vitals_cache</a:t>
            </a:r>
            <a:endParaRPr lang="en-US" sz="1200" dirty="0"/>
          </a:p>
        </p:txBody>
      </p:sp>
      <p:sp>
        <p:nvSpPr>
          <p:cNvPr id="28" name="Text 21"/>
          <p:cNvSpPr/>
          <p:nvPr/>
        </p:nvSpPr>
        <p:spPr>
          <a:xfrm>
            <a:off x="8248650" y="5083671"/>
            <a:ext cx="303479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C4C1"/>
                </a:solidFill>
                <a:latin typeface="Public Sans" pitchFamily="34" charset="0"/>
                <a:ea typeface="Public Sans" pitchFamily="34" charset="-122"/>
                <a:cs typeface="Public Sans" pitchFamily="34" charset="-120"/>
              </a:rPr>
              <a:t>Saved in the browser; works with no signal.</a:t>
            </a:r>
            <a:endParaRPr lang="en-US" sz="1300" dirty="0"/>
          </a:p>
        </p:txBody>
      </p:sp>
      <p:sp>
        <p:nvSpPr>
          <p:cNvPr id="29" name="Shape 22"/>
          <p:cNvSpPr/>
          <p:nvPr/>
        </p:nvSpPr>
        <p:spPr>
          <a:xfrm>
            <a:off x="4441825" y="4003675"/>
            <a:ext cx="3308350" cy="1771650"/>
          </a:xfrm>
          <a:prstGeom prst="roundRect">
            <a:avLst>
              <a:gd name="adj" fmla="val 6989"/>
            </a:avLst>
          </a:prstGeom>
          <a:solidFill>
            <a:srgbClr val="183A3F"/>
          </a:solidFill>
          <a:ln w="6350">
            <a:solidFill>
              <a:srgbClr val="2F5A5F"/>
            </a:solidFill>
            <a:prstDash val="solid"/>
          </a:ln>
        </p:spPr>
      </p:sp>
      <p:sp>
        <p:nvSpPr>
          <p:cNvPr id="30" name="Text 23"/>
          <p:cNvSpPr/>
          <p:nvPr/>
        </p:nvSpPr>
        <p:spPr>
          <a:xfrm>
            <a:off x="4622800" y="418465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0"/>
                </a:solidFill>
                <a:latin typeface="Public Sans" pitchFamily="34" charset="0"/>
                <a:ea typeface="Public Sans" pitchFamily="34" charset="-122"/>
                <a:cs typeface="Public Sans" pitchFamily="34" charset="-120"/>
              </a:rPr>
              <a:t>5</a:t>
            </a:r>
            <a:endParaRPr lang="en-US" sz="1200" dirty="0"/>
          </a:p>
        </p:txBody>
      </p:sp>
      <p:sp>
        <p:nvSpPr>
          <p:cNvPr id="31" name="Text 24"/>
          <p:cNvSpPr/>
          <p:nvPr/>
        </p:nvSpPr>
        <p:spPr>
          <a:xfrm>
            <a:off x="4622800" y="4474170"/>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2EA"/>
                </a:solidFill>
                <a:latin typeface="Rubik" pitchFamily="34" charset="0"/>
                <a:ea typeface="Rubik" pitchFamily="34" charset="-122"/>
                <a:cs typeface="Rubik" pitchFamily="34" charset="-120"/>
              </a:rPr>
              <a:t>Sync</a:t>
            </a:r>
            <a:endParaRPr lang="en-US" sz="1600" dirty="0"/>
          </a:p>
        </p:txBody>
      </p:sp>
      <p:sp>
        <p:nvSpPr>
          <p:cNvPr id="32" name="Text 25"/>
          <p:cNvSpPr/>
          <p:nvPr/>
        </p:nvSpPr>
        <p:spPr>
          <a:xfrm>
            <a:off x="4622800" y="4794151"/>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D8C6"/>
                </a:solidFill>
                <a:latin typeface="JetBrains Mono" pitchFamily="49" charset="0"/>
                <a:ea typeface="JetBrains Mono" pitchFamily="49" charset="-122"/>
                <a:cs typeface="JetBrains Mono" pitchFamily="49" charset="-120"/>
              </a:rPr>
              <a:t>SupabaseSyncService</a:t>
            </a:r>
            <a:endParaRPr lang="en-US" sz="1200" dirty="0"/>
          </a:p>
        </p:txBody>
      </p:sp>
      <p:sp>
        <p:nvSpPr>
          <p:cNvPr id="33" name="Text 26"/>
          <p:cNvSpPr/>
          <p:nvPr/>
        </p:nvSpPr>
        <p:spPr>
          <a:xfrm>
            <a:off x="4622800" y="5083671"/>
            <a:ext cx="303479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C4C1"/>
                </a:solidFill>
                <a:latin typeface="Public Sans" pitchFamily="34" charset="0"/>
                <a:ea typeface="Public Sans" pitchFamily="34" charset="-122"/>
                <a:cs typeface="Public Sans" pitchFamily="34" charset="-120"/>
              </a:rPr>
              <a:t>Bundles the cache into one JSON backup.</a:t>
            </a:r>
            <a:endParaRPr lang="en-US" sz="1300" dirty="0"/>
          </a:p>
        </p:txBody>
      </p:sp>
      <p:sp>
        <p:nvSpPr>
          <p:cNvPr id="34" name="Shape 27"/>
          <p:cNvSpPr/>
          <p:nvPr/>
        </p:nvSpPr>
        <p:spPr>
          <a:xfrm>
            <a:off x="812800" y="4000500"/>
            <a:ext cx="3314700" cy="1778000"/>
          </a:xfrm>
          <a:prstGeom prst="roundRect">
            <a:avLst>
              <a:gd name="adj" fmla="val 7143"/>
            </a:avLst>
          </a:prstGeom>
          <a:solidFill>
            <a:srgbClr val="E2703A"/>
          </a:solidFill>
          <a:ln/>
        </p:spPr>
      </p:sp>
      <p:sp>
        <p:nvSpPr>
          <p:cNvPr id="35" name="Text 28"/>
          <p:cNvSpPr/>
          <p:nvPr/>
        </p:nvSpPr>
        <p:spPr>
          <a:xfrm>
            <a:off x="990600" y="4178300"/>
            <a:ext cx="30478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272B"/>
                </a:solidFill>
                <a:latin typeface="Public Sans" pitchFamily="34" charset="0"/>
                <a:ea typeface="Public Sans" pitchFamily="34" charset="-122"/>
                <a:cs typeface="Public Sans" pitchFamily="34" charset="-120"/>
              </a:rPr>
              <a:t>6</a:t>
            </a:r>
            <a:endParaRPr lang="en-US" sz="1200" dirty="0"/>
          </a:p>
        </p:txBody>
      </p:sp>
      <p:sp>
        <p:nvSpPr>
          <p:cNvPr id="36" name="Text 29"/>
          <p:cNvSpPr/>
          <p:nvPr/>
        </p:nvSpPr>
        <p:spPr>
          <a:xfrm>
            <a:off x="990600" y="4467820"/>
            <a:ext cx="304787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72B"/>
                </a:solidFill>
                <a:latin typeface="Rubik" pitchFamily="34" charset="0"/>
                <a:ea typeface="Rubik" pitchFamily="34" charset="-122"/>
                <a:cs typeface="Rubik" pitchFamily="34" charset="-120"/>
              </a:rPr>
              <a:t>Cloud</a:t>
            </a:r>
            <a:endParaRPr lang="en-US" sz="1600" dirty="0"/>
          </a:p>
        </p:txBody>
      </p:sp>
      <p:sp>
        <p:nvSpPr>
          <p:cNvPr id="37" name="Text 30"/>
          <p:cNvSpPr/>
          <p:nvPr/>
        </p:nvSpPr>
        <p:spPr>
          <a:xfrm>
            <a:off x="990600" y="4787801"/>
            <a:ext cx="30478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272B"/>
                </a:solidFill>
                <a:latin typeface="JetBrains Mono" pitchFamily="49" charset="0"/>
                <a:ea typeface="JetBrains Mono" pitchFamily="49" charset="-122"/>
                <a:cs typeface="JetBrains Mono" pitchFamily="49" charset="-120"/>
              </a:rPr>
              <a:t>Supabase · bhsms-backups</a:t>
            </a:r>
            <a:endParaRPr lang="en-US" sz="1200" dirty="0"/>
          </a:p>
        </p:txBody>
      </p:sp>
      <p:sp>
        <p:nvSpPr>
          <p:cNvPr id="38" name="Text 31"/>
          <p:cNvSpPr/>
          <p:nvPr/>
        </p:nvSpPr>
        <p:spPr>
          <a:xfrm>
            <a:off x="990600" y="5077321"/>
            <a:ext cx="304787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Backup uploaded; offline, it stays queued.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72B"/>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08A50"/>
                </a:solidFill>
                <a:latin typeface="Public Sans" pitchFamily="34" charset="0"/>
                <a:ea typeface="Public Sans" pitchFamily="34" charset="-122"/>
                <a:cs typeface="Public Sans" pitchFamily="34" charset="-120"/>
              </a:rPr>
              <a:t>HOW THE CODE WORKS · TRIAGE RULE</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2EA"/>
                </a:solidFill>
                <a:latin typeface="Rubik" pitchFamily="34" charset="0"/>
                <a:ea typeface="Rubik" pitchFamily="34" charset="-122"/>
                <a:cs typeface="Rubik" pitchFamily="34" charset="-120"/>
              </a:rPr>
              <a:t>The triage rule, in code</a:t>
            </a:r>
            <a:endParaRPr lang="en-US" sz="3600" dirty="0"/>
          </a:p>
        </p:txBody>
      </p:sp>
      <p:sp>
        <p:nvSpPr>
          <p:cNvPr id="4" name="Shape 2"/>
          <p:cNvSpPr/>
          <p:nvPr/>
        </p:nvSpPr>
        <p:spPr>
          <a:xfrm>
            <a:off x="815975" y="1781175"/>
            <a:ext cx="6597650" cy="3287316"/>
          </a:xfrm>
          <a:prstGeom prst="roundRect">
            <a:avLst>
              <a:gd name="adj" fmla="val 3767"/>
            </a:avLst>
          </a:prstGeom>
          <a:solidFill>
            <a:srgbClr val="0A1C1F"/>
          </a:solidFill>
          <a:ln w="6350">
            <a:solidFill>
              <a:srgbClr val="2F5A5F"/>
            </a:solidFill>
            <a:prstDash val="solid"/>
          </a:ln>
        </p:spPr>
      </p:sp>
      <p:sp>
        <p:nvSpPr>
          <p:cNvPr id="5" name="Text 3"/>
          <p:cNvSpPr/>
          <p:nvPr/>
        </p:nvSpPr>
        <p:spPr>
          <a:xfrm>
            <a:off x="1073150" y="2038350"/>
            <a:ext cx="626579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F9A98"/>
                </a:solidFill>
                <a:latin typeface="JetBrains Mono" pitchFamily="49" charset="0"/>
                <a:ea typeface="JetBrains Mono" pitchFamily="49" charset="-122"/>
                <a:cs typeface="JetBrains Mono" pitchFamily="49" charset="-120"/>
              </a:rPr>
              <a:t>// simplified from src/lib/validations/clinical.ts</a:t>
            </a:r>
            <a:endParaRPr lang="en-US" sz="1300" dirty="0"/>
          </a:p>
        </p:txBody>
      </p:sp>
      <p:sp>
        <p:nvSpPr>
          <p:cNvPr id="6" name="Text 4"/>
          <p:cNvSpPr/>
          <p:nvPr/>
        </p:nvSpPr>
        <p:spPr>
          <a:xfrm>
            <a:off x="1073150" y="2269430"/>
            <a:ext cx="626579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08A50"/>
                </a:solidFill>
                <a:latin typeface="JetBrains Mono" pitchFamily="49" charset="0"/>
                <a:ea typeface="JetBrains Mono" pitchFamily="49" charset="-122"/>
                <a:cs typeface="JetBrains Mono" pitchFamily="49" charset="-120"/>
              </a:rPr>
              <a:t>function</a:t>
            </a:r>
            <a:r>
              <a:rPr lang="en-US" sz="1300" dirty="0">
                <a:solidFill>
                  <a:srgbClr val="F5F2EA"/>
                </a:solidFill>
                <a:latin typeface="JetBrains Mono" pitchFamily="49" charset="0"/>
                <a:ea typeface="JetBrains Mono" pitchFamily="49" charset="-122"/>
                <a:cs typeface="JetBrains Mono" pitchFamily="49" charset="-120"/>
              </a:rPr>
              <a:t> evaluateHemodynamics(sbp, dbp) {</a:t>
            </a:r>
            <a:endParaRPr lang="en-US" sz="1300" dirty="0"/>
          </a:p>
        </p:txBody>
      </p:sp>
      <p:sp>
        <p:nvSpPr>
          <p:cNvPr id="7" name="Text 5"/>
          <p:cNvSpPr/>
          <p:nvPr/>
        </p:nvSpPr>
        <p:spPr>
          <a:xfrm>
            <a:off x="1403350" y="2500511"/>
            <a:ext cx="59256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08A50"/>
                </a:solidFill>
                <a:latin typeface="JetBrains Mono" pitchFamily="49" charset="0"/>
                <a:ea typeface="JetBrains Mono" pitchFamily="49" charset="-122"/>
                <a:cs typeface="JetBrains Mono" pitchFamily="49" charset="-120"/>
              </a:rPr>
              <a:t>if</a:t>
            </a:r>
            <a:r>
              <a:rPr lang="en-US" sz="1300" dirty="0">
                <a:solidFill>
                  <a:srgbClr val="F5F2EA"/>
                </a:solidFill>
                <a:latin typeface="JetBrains Mono" pitchFamily="49" charset="0"/>
                <a:ea typeface="JetBrains Mono" pitchFamily="49" charset="-122"/>
                <a:cs typeface="JetBrains Mono" pitchFamily="49" charset="-120"/>
              </a:rPr>
              <a:t> (sbp &gt;= 180 || dbp &gt;= 120) </a:t>
            </a:r>
            <a:r>
              <a:rPr lang="en-US" sz="1300" dirty="0">
                <a:solidFill>
                  <a:srgbClr val="F08A50"/>
                </a:solidFill>
                <a:latin typeface="JetBrains Mono" pitchFamily="49" charset="0"/>
                <a:ea typeface="JetBrains Mono" pitchFamily="49" charset="-122"/>
                <a:cs typeface="JetBrains Mono" pitchFamily="49" charset="-120"/>
              </a:rPr>
              <a:t>return</a:t>
            </a:r>
            <a:r>
              <a:rPr lang="en-US" sz="1300" dirty="0">
                <a:solidFill>
                  <a:srgbClr val="F5F2EA"/>
                </a:solidFill>
                <a:latin typeface="JetBrains Mono" pitchFamily="49" charset="0"/>
                <a:ea typeface="JetBrains Mono" pitchFamily="49" charset="-122"/>
                <a:cs typeface="JetBrains Mono" pitchFamily="49" charset="-120"/>
              </a:rPr>
              <a:t> CRITICAL</a:t>
            </a:r>
            <a:endParaRPr lang="en-US" sz="1300" dirty="0"/>
          </a:p>
        </p:txBody>
      </p:sp>
      <p:sp>
        <p:nvSpPr>
          <p:cNvPr id="8" name="Text 6"/>
          <p:cNvSpPr/>
          <p:nvPr/>
        </p:nvSpPr>
        <p:spPr>
          <a:xfrm>
            <a:off x="1403350" y="2731591"/>
            <a:ext cx="59256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08A50"/>
                </a:solidFill>
                <a:latin typeface="JetBrains Mono" pitchFamily="49" charset="0"/>
                <a:ea typeface="JetBrains Mono" pitchFamily="49" charset="-122"/>
                <a:cs typeface="JetBrains Mono" pitchFamily="49" charset="-120"/>
              </a:rPr>
              <a:t>if</a:t>
            </a:r>
            <a:r>
              <a:rPr lang="en-US" sz="1300" dirty="0">
                <a:solidFill>
                  <a:srgbClr val="F5F2EA"/>
                </a:solidFill>
                <a:latin typeface="JetBrains Mono" pitchFamily="49" charset="0"/>
                <a:ea typeface="JetBrains Mono" pitchFamily="49" charset="-122"/>
                <a:cs typeface="JetBrains Mono" pitchFamily="49" charset="-120"/>
              </a:rPr>
              <a:t> (sbp &gt;= 140 || dbp &gt;= 90) </a:t>
            </a:r>
            <a:r>
              <a:rPr lang="en-US" sz="1300" dirty="0">
                <a:solidFill>
                  <a:srgbClr val="F08A50"/>
                </a:solidFill>
                <a:latin typeface="JetBrains Mono" pitchFamily="49" charset="0"/>
                <a:ea typeface="JetBrains Mono" pitchFamily="49" charset="-122"/>
                <a:cs typeface="JetBrains Mono" pitchFamily="49" charset="-120"/>
              </a:rPr>
              <a:t>return</a:t>
            </a:r>
            <a:r>
              <a:rPr lang="en-US" sz="1300" dirty="0">
                <a:solidFill>
                  <a:srgbClr val="F5F2EA"/>
                </a:solidFill>
                <a:latin typeface="JetBrains Mono" pitchFamily="49" charset="0"/>
                <a:ea typeface="JetBrains Mono" pitchFamily="49" charset="-122"/>
                <a:cs typeface="JetBrains Mono" pitchFamily="49" charset="-120"/>
              </a:rPr>
              <a:t> HIGH</a:t>
            </a:r>
            <a:endParaRPr lang="en-US" sz="1300" dirty="0"/>
          </a:p>
        </p:txBody>
      </p:sp>
      <p:sp>
        <p:nvSpPr>
          <p:cNvPr id="9" name="Text 7"/>
          <p:cNvSpPr/>
          <p:nvPr/>
        </p:nvSpPr>
        <p:spPr>
          <a:xfrm>
            <a:off x="1403350" y="2962672"/>
            <a:ext cx="59256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08A50"/>
                </a:solidFill>
                <a:latin typeface="JetBrains Mono" pitchFamily="49" charset="0"/>
                <a:ea typeface="JetBrains Mono" pitchFamily="49" charset="-122"/>
                <a:cs typeface="JetBrains Mono" pitchFamily="49" charset="-120"/>
              </a:rPr>
              <a:t>if</a:t>
            </a:r>
            <a:r>
              <a:rPr lang="en-US" sz="1300" dirty="0">
                <a:solidFill>
                  <a:srgbClr val="F5F2EA"/>
                </a:solidFill>
                <a:latin typeface="JetBrains Mono" pitchFamily="49" charset="0"/>
                <a:ea typeface="JetBrains Mono" pitchFamily="49" charset="-122"/>
                <a:cs typeface="JetBrains Mono" pitchFamily="49" charset="-120"/>
              </a:rPr>
              <a:t> (sbp &gt;= 120 || dbp &gt;= 80) </a:t>
            </a:r>
            <a:r>
              <a:rPr lang="en-US" sz="1300" dirty="0">
                <a:solidFill>
                  <a:srgbClr val="F08A50"/>
                </a:solidFill>
                <a:latin typeface="JetBrains Mono" pitchFamily="49" charset="0"/>
                <a:ea typeface="JetBrains Mono" pitchFamily="49" charset="-122"/>
                <a:cs typeface="JetBrains Mono" pitchFamily="49" charset="-120"/>
              </a:rPr>
              <a:t>return</a:t>
            </a:r>
            <a:r>
              <a:rPr lang="en-US" sz="1300" dirty="0">
                <a:solidFill>
                  <a:srgbClr val="F5F2EA"/>
                </a:solidFill>
                <a:latin typeface="JetBrains Mono" pitchFamily="49" charset="0"/>
                <a:ea typeface="JetBrains Mono" pitchFamily="49" charset="-122"/>
                <a:cs typeface="JetBrains Mono" pitchFamily="49" charset="-120"/>
              </a:rPr>
              <a:t> ELEVATED</a:t>
            </a:r>
            <a:endParaRPr lang="en-US" sz="1300" dirty="0"/>
          </a:p>
        </p:txBody>
      </p:sp>
      <p:sp>
        <p:nvSpPr>
          <p:cNvPr id="10" name="Text 8"/>
          <p:cNvSpPr/>
          <p:nvPr/>
        </p:nvSpPr>
        <p:spPr>
          <a:xfrm>
            <a:off x="1403350" y="3193752"/>
            <a:ext cx="59256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08A50"/>
                </a:solidFill>
                <a:latin typeface="JetBrains Mono" pitchFamily="49" charset="0"/>
                <a:ea typeface="JetBrains Mono" pitchFamily="49" charset="-122"/>
                <a:cs typeface="JetBrains Mono" pitchFamily="49" charset="-120"/>
              </a:rPr>
              <a:t>return</a:t>
            </a:r>
            <a:r>
              <a:rPr lang="en-US" sz="1300" dirty="0">
                <a:solidFill>
                  <a:srgbClr val="F5F2EA"/>
                </a:solidFill>
                <a:latin typeface="JetBrains Mono" pitchFamily="49" charset="0"/>
                <a:ea typeface="JetBrains Mono" pitchFamily="49" charset="-122"/>
                <a:cs typeface="JetBrains Mono" pitchFamily="49" charset="-120"/>
              </a:rPr>
              <a:t> NORMAL</a:t>
            </a:r>
            <a:endParaRPr lang="en-US" sz="1300" dirty="0"/>
          </a:p>
        </p:txBody>
      </p:sp>
      <p:sp>
        <p:nvSpPr>
          <p:cNvPr id="11" name="Text 9"/>
          <p:cNvSpPr/>
          <p:nvPr/>
        </p:nvSpPr>
        <p:spPr>
          <a:xfrm>
            <a:off x="1073150" y="3424833"/>
            <a:ext cx="626579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JetBrains Mono" pitchFamily="49" charset="0"/>
                <a:ea typeface="JetBrains Mono" pitchFamily="49" charset="-122"/>
                <a:cs typeface="JetBrains Mono" pitchFamily="49" charset="-120"/>
              </a:rPr>
              <a:t>}</a:t>
            </a:r>
            <a:endParaRPr lang="en-US" sz="1300" dirty="0"/>
          </a:p>
        </p:txBody>
      </p:sp>
      <p:sp>
        <p:nvSpPr>
          <p:cNvPr id="12" name="Text 10"/>
          <p:cNvSpPr/>
          <p:nvPr/>
        </p:nvSpPr>
        <p:spPr>
          <a:xfrm>
            <a:off x="1073150" y="3655913"/>
            <a:ext cx="626579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08A50"/>
                </a:solidFill>
                <a:latin typeface="JetBrains Mono" pitchFamily="49" charset="0"/>
                <a:ea typeface="JetBrains Mono" pitchFamily="49" charset="-122"/>
                <a:cs typeface="JetBrains Mono" pitchFamily="49" charset="-120"/>
              </a:rPr>
              <a:t>if</a:t>
            </a:r>
            <a:r>
              <a:rPr lang="en-US" sz="1300" dirty="0">
                <a:solidFill>
                  <a:srgbClr val="F5F2EA"/>
                </a:solidFill>
                <a:latin typeface="JetBrains Mono" pitchFamily="49" charset="0"/>
                <a:ea typeface="JetBrains Mono" pitchFamily="49" charset="-122"/>
                <a:cs typeface="JetBrains Mono" pitchFamily="49" charset="-120"/>
              </a:rPr>
              <a:t> (temp &gt;= 38.0) {</a:t>
            </a:r>
            <a:endParaRPr lang="en-US" sz="1300" dirty="0"/>
          </a:p>
        </p:txBody>
      </p:sp>
      <p:sp>
        <p:nvSpPr>
          <p:cNvPr id="13" name="Text 11"/>
          <p:cNvSpPr/>
          <p:nvPr/>
        </p:nvSpPr>
        <p:spPr>
          <a:xfrm>
            <a:off x="1403350" y="3886994"/>
            <a:ext cx="59256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JetBrains Mono" pitchFamily="49" charset="0"/>
                <a:ea typeface="JetBrains Mono" pitchFamily="49" charset="-122"/>
                <a:cs typeface="JetBrains Mono" pitchFamily="49" charset="-120"/>
              </a:rPr>
              <a:t>flags.push(</a:t>
            </a:r>
            <a:r>
              <a:rPr lang="en-US" sz="1300" dirty="0">
                <a:solidFill>
                  <a:srgbClr val="9FD8C6"/>
                </a:solidFill>
                <a:latin typeface="JetBrains Mono" pitchFamily="49" charset="0"/>
                <a:ea typeface="JetBrains Mono" pitchFamily="49" charset="-122"/>
                <a:cs typeface="JetBrains Mono" pitchFamily="49" charset="-120"/>
              </a:rPr>
              <a:t>'FEBRILE_ILLNESS_ALERT'</a:t>
            </a:r>
            <a:r>
              <a:rPr lang="en-US" sz="1300" dirty="0">
                <a:solidFill>
                  <a:srgbClr val="F5F2EA"/>
                </a:solidFill>
                <a:latin typeface="JetBrains Mono" pitchFamily="49" charset="0"/>
                <a:ea typeface="JetBrains Mono" pitchFamily="49" charset="-122"/>
                <a:cs typeface="JetBrains Mono" pitchFamily="49" charset="-120"/>
              </a:rPr>
              <a:t>)</a:t>
            </a:r>
            <a:endParaRPr lang="en-US" sz="1300" dirty="0"/>
          </a:p>
        </p:txBody>
      </p:sp>
      <p:sp>
        <p:nvSpPr>
          <p:cNvPr id="14" name="Text 12"/>
          <p:cNvSpPr/>
          <p:nvPr/>
        </p:nvSpPr>
        <p:spPr>
          <a:xfrm>
            <a:off x="1403350" y="4118074"/>
            <a:ext cx="59256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08A50"/>
                </a:solidFill>
                <a:latin typeface="JetBrains Mono" pitchFamily="49" charset="0"/>
                <a:ea typeface="JetBrains Mono" pitchFamily="49" charset="-122"/>
                <a:cs typeface="JetBrains Mono" pitchFamily="49" charset="-120"/>
              </a:rPr>
              <a:t>if</a:t>
            </a:r>
            <a:r>
              <a:rPr lang="en-US" sz="1300" dirty="0">
                <a:solidFill>
                  <a:srgbClr val="F5F2EA"/>
                </a:solidFill>
                <a:latin typeface="JetBrains Mono" pitchFamily="49" charset="0"/>
                <a:ea typeface="JetBrains Mono" pitchFamily="49" charset="-122"/>
                <a:cs typeface="JetBrains Mono" pitchFamily="49" charset="-120"/>
              </a:rPr>
              <a:t> (severity === </a:t>
            </a:r>
            <a:r>
              <a:rPr lang="en-US" sz="1300" dirty="0">
                <a:solidFill>
                  <a:srgbClr val="9FD8C6"/>
                </a:solidFill>
                <a:latin typeface="JetBrains Mono" pitchFamily="49" charset="0"/>
                <a:ea typeface="JetBrains Mono" pitchFamily="49" charset="-122"/>
                <a:cs typeface="JetBrains Mono" pitchFamily="49" charset="-120"/>
              </a:rPr>
              <a:t>'NORMAL'</a:t>
            </a:r>
            <a:r>
              <a:rPr lang="en-US" sz="1300" dirty="0">
                <a:solidFill>
                  <a:srgbClr val="F5F2EA"/>
                </a:solidFill>
                <a:latin typeface="JetBrains Mono" pitchFamily="49" charset="0"/>
                <a:ea typeface="JetBrains Mono" pitchFamily="49" charset="-122"/>
                <a:cs typeface="JetBrains Mono" pitchFamily="49" charset="-120"/>
              </a:rPr>
              <a:t>) severity = </a:t>
            </a:r>
            <a:r>
              <a:rPr lang="en-US" sz="1300" dirty="0">
                <a:solidFill>
                  <a:srgbClr val="9FD8C6"/>
                </a:solidFill>
                <a:latin typeface="JetBrains Mono" pitchFamily="49" charset="0"/>
                <a:ea typeface="JetBrains Mono" pitchFamily="49" charset="-122"/>
                <a:cs typeface="JetBrains Mono" pitchFamily="49" charset="-120"/>
              </a:rPr>
              <a:t>'ELEVATED'</a:t>
            </a:r>
            <a:endParaRPr lang="en-US" sz="1300" dirty="0"/>
          </a:p>
        </p:txBody>
      </p:sp>
      <p:sp>
        <p:nvSpPr>
          <p:cNvPr id="15" name="Text 13"/>
          <p:cNvSpPr/>
          <p:nvPr/>
        </p:nvSpPr>
        <p:spPr>
          <a:xfrm>
            <a:off x="1073150" y="4349155"/>
            <a:ext cx="626579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JetBrains Mono" pitchFamily="49" charset="0"/>
                <a:ea typeface="JetBrains Mono" pitchFamily="49" charset="-122"/>
                <a:cs typeface="JetBrains Mono" pitchFamily="49" charset="-120"/>
              </a:rPr>
              <a:t>}</a:t>
            </a:r>
            <a:endParaRPr lang="en-US" sz="1300" dirty="0"/>
          </a:p>
        </p:txBody>
      </p:sp>
      <p:sp>
        <p:nvSpPr>
          <p:cNvPr id="16" name="Text 14"/>
          <p:cNvSpPr/>
          <p:nvPr/>
        </p:nvSpPr>
        <p:spPr>
          <a:xfrm>
            <a:off x="1073150" y="4580235"/>
            <a:ext cx="626579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JetBrains Mono" pitchFamily="49" charset="0"/>
                <a:ea typeface="JetBrains Mono" pitchFamily="49" charset="-122"/>
                <a:cs typeface="JetBrains Mono" pitchFamily="49" charset="-120"/>
              </a:rPr>
              <a:t>bmi = round(weightKg / heightM², 1)</a:t>
            </a:r>
            <a:endParaRPr lang="en-US" sz="1300" dirty="0"/>
          </a:p>
        </p:txBody>
      </p:sp>
      <p:sp>
        <p:nvSpPr>
          <p:cNvPr id="17" name="Text 15"/>
          <p:cNvSpPr/>
          <p:nvPr/>
        </p:nvSpPr>
        <p:spPr>
          <a:xfrm>
            <a:off x="7747000" y="1778000"/>
            <a:ext cx="163810" cy="52308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50"/>
                </a:solidFill>
                <a:latin typeface="Rubik" pitchFamily="34" charset="0"/>
                <a:ea typeface="Rubik" pitchFamily="34" charset="-122"/>
                <a:cs typeface="Rubik" pitchFamily="34" charset="-120"/>
              </a:rPr>
              <a:t>1</a:t>
            </a:r>
            <a:endParaRPr lang="en-US" sz="2200" dirty="0"/>
          </a:p>
        </p:txBody>
      </p:sp>
      <p:sp>
        <p:nvSpPr>
          <p:cNvPr id="18" name="Text 16"/>
          <p:cNvSpPr/>
          <p:nvPr/>
        </p:nvSpPr>
        <p:spPr>
          <a:xfrm>
            <a:off x="7987010" y="1778000"/>
            <a:ext cx="349395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2EA"/>
                </a:solidFill>
                <a:latin typeface="Public Sans" pitchFamily="34" charset="0"/>
                <a:ea typeface="Public Sans" pitchFamily="34" charset="-122"/>
                <a:cs typeface="Public Sans" pitchFamily="34" charset="-120"/>
              </a:rPr>
              <a:t>Checked top-down, so the worst band always wins.</a:t>
            </a:r>
            <a:endParaRPr lang="en-US" sz="1400" dirty="0"/>
          </a:p>
        </p:txBody>
      </p:sp>
      <p:sp>
        <p:nvSpPr>
          <p:cNvPr id="19" name="Text 17"/>
          <p:cNvSpPr/>
          <p:nvPr/>
        </p:nvSpPr>
        <p:spPr>
          <a:xfrm>
            <a:off x="7747000" y="2984500"/>
            <a:ext cx="23247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50"/>
                </a:solidFill>
                <a:latin typeface="Rubik" pitchFamily="34" charset="0"/>
                <a:ea typeface="Rubik" pitchFamily="34" charset="-122"/>
                <a:cs typeface="Rubik" pitchFamily="34" charset="-120"/>
              </a:rPr>
              <a:t>2</a:t>
            </a:r>
            <a:endParaRPr lang="en-US" sz="2200" dirty="0"/>
          </a:p>
        </p:txBody>
      </p:sp>
      <p:sp>
        <p:nvSpPr>
          <p:cNvPr id="20" name="Text 18"/>
          <p:cNvSpPr/>
          <p:nvPr/>
        </p:nvSpPr>
        <p:spPr>
          <a:xfrm>
            <a:off x="8055670" y="2984500"/>
            <a:ext cx="3488769" cy="4165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2EA"/>
                </a:solidFill>
                <a:latin typeface="Public Sans" pitchFamily="34" charset="0"/>
                <a:ea typeface="Public Sans" pitchFamily="34" charset="-122"/>
                <a:cs typeface="Public Sans" pitchFamily="34" charset="-120"/>
              </a:rPr>
              <a:t>Only CRITICAL sets referral to true.</a:t>
            </a:r>
            <a:endParaRPr lang="en-US" sz="1400" dirty="0"/>
          </a:p>
        </p:txBody>
      </p:sp>
      <p:sp>
        <p:nvSpPr>
          <p:cNvPr id="21" name="Text 19"/>
          <p:cNvSpPr/>
          <p:nvPr/>
        </p:nvSpPr>
        <p:spPr>
          <a:xfrm>
            <a:off x="7747000" y="3937000"/>
            <a:ext cx="166688" cy="52308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50"/>
                </a:solidFill>
                <a:latin typeface="Rubik" pitchFamily="34" charset="0"/>
                <a:ea typeface="Rubik" pitchFamily="34" charset="-122"/>
                <a:cs typeface="Rubik" pitchFamily="34" charset="-120"/>
              </a:rPr>
              <a:t>3</a:t>
            </a:r>
            <a:endParaRPr lang="en-US" sz="2200" dirty="0"/>
          </a:p>
        </p:txBody>
      </p:sp>
      <p:sp>
        <p:nvSpPr>
          <p:cNvPr id="22" name="Text 20"/>
          <p:cNvSpPr/>
          <p:nvPr/>
        </p:nvSpPr>
        <p:spPr>
          <a:xfrm>
            <a:off x="7989887" y="3937000"/>
            <a:ext cx="34909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2EA"/>
                </a:solidFill>
                <a:latin typeface="Public Sans" pitchFamily="34" charset="0"/>
                <a:ea typeface="Public Sans" pitchFamily="34" charset="-122"/>
                <a:cs typeface="Public Sans" pitchFamily="34" charset="-120"/>
              </a:rPr>
              <a:t>Fever lifts NORMAL to ELEVATED but never lowers a higher band.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60400"/>
            <a:ext cx="784860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01F"/>
                </a:solidFill>
                <a:latin typeface="Public Sans" pitchFamily="34" charset="0"/>
                <a:ea typeface="Public Sans" pitchFamily="34" charset="-122"/>
                <a:cs typeface="Public Sans" pitchFamily="34" charset="-120"/>
              </a:rPr>
              <a:t>HOW THE CODE WORKS · ACCESS CONTROL</a:t>
            </a:r>
            <a:endParaRPr lang="en-US" sz="1300" dirty="0"/>
          </a:p>
        </p:txBody>
      </p:sp>
      <p:sp>
        <p:nvSpPr>
          <p:cNvPr id="3" name="Text 1"/>
          <p:cNvSpPr/>
          <p:nvPr>
            <p:ph type="title"/>
          </p:nvPr>
        </p:nvSpPr>
        <p:spPr>
          <a:xfrm>
            <a:off x="812800" y="939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72B"/>
                </a:solidFill>
                <a:latin typeface="Rubik" pitchFamily="34" charset="0"/>
                <a:ea typeface="Rubik" pitchFamily="34" charset="-122"/>
                <a:cs typeface="Rubik" pitchFamily="34" charset="-120"/>
              </a:rPr>
              <a:t>Three locks on patient data</a:t>
            </a:r>
            <a:endParaRPr lang="en-US" sz="3600" dirty="0"/>
          </a:p>
        </p:txBody>
      </p:sp>
      <p:sp>
        <p:nvSpPr>
          <p:cNvPr id="4" name="Shape 2"/>
          <p:cNvSpPr/>
          <p:nvPr/>
        </p:nvSpPr>
        <p:spPr>
          <a:xfrm>
            <a:off x="815975" y="1908175"/>
            <a:ext cx="3346450" cy="2375892"/>
          </a:xfrm>
          <a:prstGeom prst="roundRect">
            <a:avLst>
              <a:gd name="adj" fmla="val 5212"/>
            </a:avLst>
          </a:prstGeom>
          <a:solidFill>
            <a:srgbClr val="FBFAF6"/>
          </a:solidFill>
          <a:ln w="6350">
            <a:solidFill>
              <a:srgbClr val="DDD6C6"/>
            </a:solidFill>
            <a:prstDash val="solid"/>
          </a:ln>
        </p:spPr>
      </p:sp>
      <p:pic>
        <p:nvPicPr>
          <p:cNvPr id="5" name="Image 0" descr="Lock">    </p:cNvPr>
          <p:cNvPicPr>
            <a:picLocks noChangeAspect="1"/>
          </p:cNvPicPr>
          <p:nvPr/>
        </p:nvPicPr>
        <p:blipFill>
          <a:blip r:embed="rId1"/>
          <a:srcRect l="0" r="0" t="0" b="0"/>
          <a:stretch/>
        </p:blipFill>
        <p:spPr>
          <a:xfrm>
            <a:off x="1073150" y="2165350"/>
            <a:ext cx="406400" cy="406400"/>
          </a:xfrm>
          <a:prstGeom prst="rect">
            <a:avLst/>
          </a:prstGeom>
        </p:spPr>
      </p:pic>
      <p:sp>
        <p:nvSpPr>
          <p:cNvPr id="6" name="Text 3"/>
          <p:cNvSpPr/>
          <p:nvPr/>
        </p:nvSpPr>
        <p:spPr>
          <a:xfrm>
            <a:off x="1073150" y="2673350"/>
            <a:ext cx="29170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E6E"/>
                </a:solidFill>
                <a:latin typeface="Public Sans" pitchFamily="34" charset="0"/>
                <a:ea typeface="Public Sans" pitchFamily="34" charset="-122"/>
                <a:cs typeface="Public Sans" pitchFamily="34" charset="-120"/>
              </a:rPr>
              <a:t>IN THE APP</a:t>
            </a:r>
            <a:endParaRPr lang="en-US" sz="1200" dirty="0"/>
          </a:p>
        </p:txBody>
      </p:sp>
      <p:sp>
        <p:nvSpPr>
          <p:cNvPr id="7" name="Text 4"/>
          <p:cNvSpPr/>
          <p:nvPr/>
        </p:nvSpPr>
        <p:spPr>
          <a:xfrm>
            <a:off x="1073150" y="2988270"/>
            <a:ext cx="29170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72B"/>
                </a:solidFill>
                <a:latin typeface="JetBrains Mono" pitchFamily="49" charset="0"/>
                <a:ea typeface="JetBrains Mono" pitchFamily="49" charset="-122"/>
                <a:cs typeface="JetBrains Mono" pitchFamily="49" charset="-120"/>
              </a:rPr>
              <a:t>ModuleGuard</a:t>
            </a:r>
            <a:endParaRPr lang="en-US" sz="1600" dirty="0"/>
          </a:p>
        </p:txBody>
      </p:sp>
      <p:sp>
        <p:nvSpPr>
          <p:cNvPr id="8" name="Text 5"/>
          <p:cNvSpPr/>
          <p:nvPr/>
        </p:nvSpPr>
        <p:spPr>
          <a:xfrm>
            <a:off x="1073150" y="3333651"/>
            <a:ext cx="291706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Each page asks hasModule(). Roles give defaults; an admin can add or remove modules per user.</a:t>
            </a:r>
            <a:endParaRPr lang="en-US" sz="1300" dirty="0"/>
          </a:p>
        </p:txBody>
      </p:sp>
      <p:sp>
        <p:nvSpPr>
          <p:cNvPr id="9" name="Shape 6"/>
          <p:cNvSpPr/>
          <p:nvPr/>
        </p:nvSpPr>
        <p:spPr>
          <a:xfrm>
            <a:off x="4422775" y="1908175"/>
            <a:ext cx="3346450" cy="2375892"/>
          </a:xfrm>
          <a:prstGeom prst="roundRect">
            <a:avLst>
              <a:gd name="adj" fmla="val 5212"/>
            </a:avLst>
          </a:prstGeom>
          <a:solidFill>
            <a:srgbClr val="FBFAF6"/>
          </a:solidFill>
          <a:ln w="6350">
            <a:solidFill>
              <a:srgbClr val="DDD6C6"/>
            </a:solidFill>
            <a:prstDash val="solid"/>
          </a:ln>
        </p:spPr>
      </p:sp>
      <p:pic>
        <p:nvPicPr>
          <p:cNvPr id="10" name="Image 1" descr="Database">    </p:cNvPr>
          <p:cNvPicPr>
            <a:picLocks noChangeAspect="1"/>
          </p:cNvPicPr>
          <p:nvPr/>
        </p:nvPicPr>
        <p:blipFill>
          <a:blip r:embed="rId2"/>
          <a:srcRect l="0" r="0" t="0" b="0"/>
          <a:stretch/>
        </p:blipFill>
        <p:spPr>
          <a:xfrm>
            <a:off x="4679950" y="2165350"/>
            <a:ext cx="406400" cy="406400"/>
          </a:xfrm>
          <a:prstGeom prst="rect">
            <a:avLst/>
          </a:prstGeom>
        </p:spPr>
      </p:pic>
      <p:sp>
        <p:nvSpPr>
          <p:cNvPr id="11" name="Text 7"/>
          <p:cNvSpPr/>
          <p:nvPr/>
        </p:nvSpPr>
        <p:spPr>
          <a:xfrm>
            <a:off x="4679950" y="2673350"/>
            <a:ext cx="29170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E6E"/>
                </a:solidFill>
                <a:latin typeface="Public Sans" pitchFamily="34" charset="0"/>
                <a:ea typeface="Public Sans" pitchFamily="34" charset="-122"/>
                <a:cs typeface="Public Sans" pitchFamily="34" charset="-120"/>
              </a:rPr>
              <a:t>IN THE DATABASE</a:t>
            </a:r>
            <a:endParaRPr lang="en-US" sz="1200" dirty="0"/>
          </a:p>
        </p:txBody>
      </p:sp>
      <p:sp>
        <p:nvSpPr>
          <p:cNvPr id="12" name="Text 8"/>
          <p:cNvSpPr/>
          <p:nvPr/>
        </p:nvSpPr>
        <p:spPr>
          <a:xfrm>
            <a:off x="4679950" y="2988270"/>
            <a:ext cx="29170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72B"/>
                </a:solidFill>
                <a:latin typeface="JetBrains Mono" pitchFamily="49" charset="0"/>
                <a:ea typeface="JetBrains Mono" pitchFamily="49" charset="-122"/>
                <a:cs typeface="JetBrains Mono" pitchFamily="49" charset="-120"/>
              </a:rPr>
              <a:t>Row-Level Security</a:t>
            </a:r>
            <a:endParaRPr lang="en-US" sz="1600" dirty="0"/>
          </a:p>
        </p:txBody>
      </p:sp>
      <p:sp>
        <p:nvSpPr>
          <p:cNvPr id="13" name="Text 9"/>
          <p:cNvSpPr/>
          <p:nvPr/>
        </p:nvSpPr>
        <p:spPr>
          <a:xfrm>
            <a:off x="4679950" y="3333651"/>
            <a:ext cx="291706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Supabase policies on every table. Only admin, doctor, nurse and BHW can read residents.</a:t>
            </a:r>
            <a:endParaRPr lang="en-US" sz="1300" dirty="0"/>
          </a:p>
        </p:txBody>
      </p:sp>
      <p:sp>
        <p:nvSpPr>
          <p:cNvPr id="14" name="Shape 10"/>
          <p:cNvSpPr/>
          <p:nvPr/>
        </p:nvSpPr>
        <p:spPr>
          <a:xfrm>
            <a:off x="8029575" y="1908175"/>
            <a:ext cx="3346450" cy="2375892"/>
          </a:xfrm>
          <a:prstGeom prst="roundRect">
            <a:avLst>
              <a:gd name="adj" fmla="val 5212"/>
            </a:avLst>
          </a:prstGeom>
          <a:solidFill>
            <a:srgbClr val="FBFAF6"/>
          </a:solidFill>
          <a:ln w="6350">
            <a:solidFill>
              <a:srgbClr val="DDD6C6"/>
            </a:solidFill>
            <a:prstDash val="solid"/>
          </a:ln>
        </p:spPr>
      </p:sp>
      <p:pic>
        <p:nvPicPr>
          <p:cNvPr id="15" name="Image 2" descr="Book">    </p:cNvPr>
          <p:cNvPicPr>
            <a:picLocks noChangeAspect="1"/>
          </p:cNvPicPr>
          <p:nvPr/>
        </p:nvPicPr>
        <p:blipFill>
          <a:blip r:embed="rId3"/>
          <a:srcRect l="0" r="0" t="0" b="0"/>
          <a:stretch/>
        </p:blipFill>
        <p:spPr>
          <a:xfrm>
            <a:off x="8286750" y="2165350"/>
            <a:ext cx="406400" cy="406400"/>
          </a:xfrm>
          <a:prstGeom prst="rect">
            <a:avLst/>
          </a:prstGeom>
        </p:spPr>
      </p:pic>
      <p:sp>
        <p:nvSpPr>
          <p:cNvPr id="16" name="Text 11"/>
          <p:cNvSpPr/>
          <p:nvPr/>
        </p:nvSpPr>
        <p:spPr>
          <a:xfrm>
            <a:off x="8286750" y="2673350"/>
            <a:ext cx="29170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E6E"/>
                </a:solidFill>
                <a:latin typeface="Public Sans" pitchFamily="34" charset="0"/>
                <a:ea typeface="Public Sans" pitchFamily="34" charset="-122"/>
                <a:cs typeface="Public Sans" pitchFamily="34" charset="-120"/>
              </a:rPr>
              <a:t>ON THE RECORD</a:t>
            </a:r>
            <a:endParaRPr lang="en-US" sz="1200" dirty="0"/>
          </a:p>
        </p:txBody>
      </p:sp>
      <p:sp>
        <p:nvSpPr>
          <p:cNvPr id="17" name="Text 12"/>
          <p:cNvSpPr/>
          <p:nvPr/>
        </p:nvSpPr>
        <p:spPr>
          <a:xfrm>
            <a:off x="8286750" y="2988270"/>
            <a:ext cx="29170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72B"/>
                </a:solidFill>
                <a:latin typeface="JetBrains Mono" pitchFamily="49" charset="0"/>
                <a:ea typeface="JetBrains Mono" pitchFamily="49" charset="-122"/>
                <a:cs typeface="JetBrains Mono" pitchFamily="49" charset="-120"/>
              </a:rPr>
              <a:t>audit_logs</a:t>
            </a:r>
            <a:endParaRPr lang="en-US" sz="1600" dirty="0"/>
          </a:p>
        </p:txBody>
      </p:sp>
      <p:sp>
        <p:nvSpPr>
          <p:cNvPr id="18" name="Text 13"/>
          <p:cNvSpPr/>
          <p:nvPr/>
        </p:nvSpPr>
        <p:spPr>
          <a:xfrm>
            <a:off x="8286750" y="3333651"/>
            <a:ext cx="291706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0272B"/>
                </a:solidFill>
                <a:latin typeface="Public Sans" pitchFamily="34" charset="0"/>
                <a:ea typeface="Public Sans" pitchFamily="34" charset="-122"/>
                <a:cs typeface="Public Sans" pitchFamily="34" charset="-120"/>
              </a:rPr>
              <a:t>Who did what, on which table and record, for RA 10173, the Data Privacy Act.</a:t>
            </a:r>
            <a:endParaRPr lang="en-US" sz="1300" dirty="0"/>
          </a:p>
        </p:txBody>
      </p:sp>
      <p:sp>
        <p:nvSpPr>
          <p:cNvPr id="19" name="Text 14"/>
          <p:cNvSpPr/>
          <p:nvPr/>
        </p:nvSpPr>
        <p:spPr>
          <a:xfrm>
            <a:off x="812800" y="4994870"/>
            <a:ext cx="171529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272B"/>
                </a:solidFill>
                <a:latin typeface="Public Sans" pitchFamily="34" charset="0"/>
                <a:ea typeface="Public Sans" pitchFamily="34" charset="-122"/>
                <a:cs typeface="Public Sans" pitchFamily="34" charset="-120"/>
              </a:rPr>
              <a:t>Derived permissions:</a:t>
            </a:r>
            <a:endParaRPr lang="en-US" sz="1300" dirty="0"/>
          </a:p>
        </p:txBody>
      </p:sp>
      <p:sp>
        <p:nvSpPr>
          <p:cNvPr id="20" name="Text 15"/>
          <p:cNvSpPr/>
          <p:nvPr/>
        </p:nvSpPr>
        <p:spPr>
          <a:xfrm>
            <a:off x="2528094" y="4953000"/>
            <a:ext cx="1991420" cy="314920"/>
          </a:xfrm>
          <a:prstGeom prst="roundRect">
            <a:avLst>
              <a:gd name="adj" fmla="val 50000"/>
            </a:avLst>
          </a:prstGeom>
          <a:solidFill>
            <a:srgbClr val="E9E4D8"/>
          </a:solidFill>
          <a:ln/>
        </p:spPr>
        <p:txBody>
          <a:bodyPr wrap="none" lIns="0" tIns="0" rIns="0" bIns="0" rtlCol="0" anchor="ctr">
            <a:normAutofit/>
          </a:bodyPr>
          <a:lstStyle/>
          <a:p>
            <a:pPr algn="ctr" indent="0" marL="0">
              <a:lnSpc>
                <a:spcPts val="1680"/>
              </a:lnSpc>
              <a:buNone/>
            </a:pPr>
            <a:r>
              <a:rPr lang="en-US" sz="1200" dirty="0">
                <a:solidFill>
                  <a:srgbClr val="10272B"/>
                </a:solidFill>
                <a:latin typeface="JetBrains Mono" pitchFamily="49" charset="0"/>
                <a:ea typeface="JetBrains Mono" pitchFamily="49" charset="-122"/>
                <a:cs typeface="JetBrains Mono" pitchFamily="49" charset="-120"/>
              </a:rPr>
              <a:t>canEditClinicalData</a:t>
            </a:r>
            <a:endParaRPr lang="en-US" sz="1200" dirty="0"/>
          </a:p>
        </p:txBody>
      </p:sp>
      <p:sp>
        <p:nvSpPr>
          <p:cNvPr id="21" name="Text 16"/>
          <p:cNvSpPr/>
          <p:nvPr/>
        </p:nvSpPr>
        <p:spPr>
          <a:xfrm>
            <a:off x="4621113" y="4953000"/>
            <a:ext cx="2082800" cy="314920"/>
          </a:xfrm>
          <a:prstGeom prst="roundRect">
            <a:avLst>
              <a:gd name="adj" fmla="val 50000"/>
            </a:avLst>
          </a:prstGeom>
          <a:solidFill>
            <a:srgbClr val="E9E4D8"/>
          </a:solidFill>
          <a:ln/>
        </p:spPr>
        <p:txBody>
          <a:bodyPr wrap="none" lIns="0" tIns="0" rIns="0" bIns="0" rtlCol="0" anchor="ctr">
            <a:normAutofit/>
          </a:bodyPr>
          <a:lstStyle/>
          <a:p>
            <a:pPr algn="ctr" indent="0" marL="0">
              <a:lnSpc>
                <a:spcPts val="1680"/>
              </a:lnSpc>
              <a:buNone/>
            </a:pPr>
            <a:r>
              <a:rPr lang="en-US" sz="1200" dirty="0">
                <a:solidFill>
                  <a:srgbClr val="10272B"/>
                </a:solidFill>
                <a:latin typeface="JetBrains Mono" pitchFamily="49" charset="0"/>
                <a:ea typeface="JetBrains Mono" pitchFamily="49" charset="-122"/>
                <a:cs typeface="JetBrains Mono" pitchFamily="49" charset="-120"/>
              </a:rPr>
              <a:t>canRegisterResidents</a:t>
            </a:r>
            <a:endParaRPr lang="en-US" sz="1200" dirty="0"/>
          </a:p>
        </p:txBody>
      </p:sp>
      <p:sp>
        <p:nvSpPr>
          <p:cNvPr id="22" name="Text 17"/>
          <p:cNvSpPr/>
          <p:nvPr/>
        </p:nvSpPr>
        <p:spPr>
          <a:xfrm>
            <a:off x="6805513" y="4953000"/>
            <a:ext cx="1899940" cy="314920"/>
          </a:xfrm>
          <a:prstGeom prst="roundRect">
            <a:avLst>
              <a:gd name="adj" fmla="val 50000"/>
            </a:avLst>
          </a:prstGeom>
          <a:solidFill>
            <a:srgbClr val="E9E4D8"/>
          </a:solidFill>
          <a:ln/>
        </p:spPr>
        <p:txBody>
          <a:bodyPr wrap="none" lIns="0" tIns="0" rIns="0" bIns="0" rtlCol="0" anchor="ctr">
            <a:normAutofit/>
          </a:bodyPr>
          <a:lstStyle/>
          <a:p>
            <a:pPr algn="ctr" indent="0" marL="0">
              <a:lnSpc>
                <a:spcPts val="1680"/>
              </a:lnSpc>
              <a:buNone/>
            </a:pPr>
            <a:r>
              <a:rPr lang="en-US" sz="1200" dirty="0">
                <a:solidFill>
                  <a:srgbClr val="10272B"/>
                </a:solidFill>
                <a:latin typeface="JetBrains Mono" pitchFamily="49" charset="0"/>
                <a:ea typeface="JetBrains Mono" pitchFamily="49" charset="-122"/>
                <a:cs typeface="JetBrains Mono" pitchFamily="49" charset="-120"/>
              </a:rPr>
              <a:t>canViewReportsOnly</a:t>
            </a:r>
            <a:endParaRPr lang="en-US" sz="1200" dirty="0"/>
          </a:p>
        </p:txBody>
      </p:sp>
      <p:sp>
        <p:nvSpPr>
          <p:cNvPr id="23"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BHSMS · How it works</a:t>
            </a:r>
            <a:endParaRPr lang="en-US" sz="1200" dirty="0"/>
          </a:p>
        </p:txBody>
      </p:sp>
      <p:sp>
        <p:nvSpPr>
          <p:cNvPr id="24"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69"/>
                </a:solidFill>
                <a:latin typeface="Public Sans" pitchFamily="34" charset="0"/>
                <a:ea typeface="Public Sans" pitchFamily="34" charset="-122"/>
                <a:cs typeface="Public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eartbeat line">    </p:cNvPr>
          <p:cNvPicPr>
            <a:picLocks noChangeAspect="1"/>
          </p:cNvPicPr>
          <p:nvPr/>
        </p:nvPicPr>
        <p:blipFill>
          <a:blip r:embed="rId1"/>
          <a:srcRect l="0" r="0" t="0" b="0"/>
          <a:stretch/>
        </p:blipFill>
        <p:spPr>
          <a:xfrm>
            <a:off x="0" y="4445000"/>
            <a:ext cx="12192000" cy="1524000"/>
          </a:xfrm>
          <a:prstGeom prst="rect">
            <a:avLst/>
          </a:prstGeom>
        </p:spPr>
      </p:pic>
      <p:sp>
        <p:nvSpPr>
          <p:cNvPr id="3" name="Text 0"/>
          <p:cNvSpPr/>
          <p:nvPr/>
        </p:nvSpPr>
        <p:spPr>
          <a:xfrm>
            <a:off x="812800" y="1270000"/>
            <a:ext cx="7848600"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8A50"/>
                </a:solidFill>
                <a:latin typeface="Public Sans" pitchFamily="34" charset="0"/>
                <a:ea typeface="Public Sans" pitchFamily="34" charset="-122"/>
                <a:cs typeface="Public Sans" pitchFamily="34" charset="-120"/>
              </a:rPr>
              <a:t>IN ONE LINE</a:t>
            </a:r>
            <a:endParaRPr lang="en-US" sz="1400" dirty="0"/>
          </a:p>
        </p:txBody>
      </p:sp>
      <p:sp>
        <p:nvSpPr>
          <p:cNvPr id="4" name="Text 1"/>
          <p:cNvSpPr/>
          <p:nvPr>
            <p:ph type="title"/>
          </p:nvPr>
        </p:nvSpPr>
        <p:spPr>
          <a:xfrm>
            <a:off x="812800" y="1651000"/>
            <a:ext cx="10203180" cy="1953022"/>
          </a:xfrm>
          <a:prstGeom prst="rect">
            <a:avLst/>
          </a:prstGeom>
          <a:noFill/>
          <a:ln/>
        </p:spPr>
        <p:txBody>
          <a:bodyPr wrap="square" lIns="0" tIns="0" rIns="0" bIns="0" rtlCol="0" anchor="t">
            <a:normAutofit/>
          </a:bodyPr>
          <a:lstStyle/>
          <a:p>
            <a:pPr algn="l" indent="0" marL="0">
              <a:lnSpc>
                <a:spcPts val="5060"/>
              </a:lnSpc>
              <a:buNone/>
            </a:pPr>
            <a:r>
              <a:rPr lang="en-US" sz="4400" b="1" i="0" dirty="0">
                <a:solidFill>
                  <a:srgbClr val="F5F2EA"/>
                </a:solidFill>
                <a:latin typeface="Rubik" pitchFamily="34" charset="0"/>
                <a:ea typeface="Rubik" pitchFamily="34" charset="-122"/>
                <a:cs typeface="Rubik" pitchFamily="34" charset="-120"/>
              </a:rPr>
              <a:t>Seven readings in. A severity, flags and a referral decision out — even offline.</a:t>
            </a:r>
            <a:endParaRPr lang="en-US" sz="44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4C1"/>
                </a:solidFill>
                <a:latin typeface="Public Sans" pitchFamily="34" charset="0"/>
                <a:ea typeface="Public Sans" pitchFamily="34" charset="-122"/>
                <a:cs typeface="Public Sans" pitchFamily="34" charset="-120"/>
              </a:rPr>
              <a:t>BHSMS · Municipality of Bucay, Abra</a:t>
            </a:r>
            <a:endParaRPr lang="en-US" sz="1200" dirty="0"/>
          </a:p>
        </p:txBody>
      </p:sp>
    </p:spTree>
  </p:cSld>
  <p:clrMapOvr>
    <a:masterClrMapping/>
  </p:clrMapOvr>
</p:sld>
</file>

<file path=ppt/theme/theme1.xml><?xml version="1.0" encoding="utf-8"?>
<a:theme xmlns:a="http://schemas.openxmlformats.org/drawingml/2006/main" name="BHSMS — How It Works">
  <a:themeElements>
    <a:clrScheme name="BHSMS — How It Works">
      <a:dk1>
        <a:srgbClr val="10272B"/>
      </a:dk1>
      <a:lt1>
        <a:srgbClr val="F5F2EA"/>
      </a:lt1>
      <a:dk2>
        <a:srgbClr val="495A5B"/>
      </a:dk2>
      <a:lt2>
        <a:srgbClr val="DEDED7"/>
      </a:lt2>
      <a:accent1>
        <a:srgbClr val="F08A50"/>
      </a:accent1>
      <a:accent2>
        <a:srgbClr val="B8501F"/>
      </a:accent2>
      <a:accent3>
        <a:srgbClr val="E2703A"/>
      </a:accent3>
      <a:accent4>
        <a:srgbClr val="1F6E6E"/>
      </a:accent4>
      <a:accent5>
        <a:srgbClr val="9FD8C6"/>
      </a:accent5>
      <a:accent6>
        <a:srgbClr val="F6D2BC"/>
      </a:accent6>
      <a:hlink>
        <a:srgbClr val="0563C1"/>
      </a:hlink>
      <a:folHlink>
        <a:srgbClr val="954F72"/>
      </a:folHlink>
    </a:clrScheme>
    <a:fontScheme name="BHSMS — How It Works">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BHSMS — How It Works</dc:title>
  <dc:subject/>
  <dc:creator/>
  <cp:lastModifiedBy/>
  <cp:revision>1</cp:revision>
  <dcterms:created xsi:type="dcterms:W3CDTF">2026-10-17T23:06:24Z</dcterms:created>
  <dcterms:modified xsi:type="dcterms:W3CDTF">2026-10-17T23:06:24Z</dcterms:modified>
</cp:coreProperties>
</file>